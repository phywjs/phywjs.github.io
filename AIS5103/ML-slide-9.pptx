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"/>
  </p:notesMasterIdLst>
  <p:sldIdLst>
    <p:sldId id="258" r:id="rId2"/>
    <p:sldId id="324" r:id="rId3"/>
    <p:sldId id="306" r:id="rId4"/>
    <p:sldId id="319" r:id="rId5"/>
    <p:sldId id="305" r:id="rId6"/>
    <p:sldId id="318" r:id="rId7"/>
    <p:sldId id="309" r:id="rId8"/>
    <p:sldId id="321" r:id="rId9"/>
    <p:sldId id="310" r:id="rId10"/>
    <p:sldId id="311" r:id="rId11"/>
    <p:sldId id="312" r:id="rId12"/>
    <p:sldId id="313" r:id="rId13"/>
    <p:sldId id="314" r:id="rId14"/>
    <p:sldId id="315" r:id="rId15"/>
    <p:sldId id="316" r:id="rId16"/>
    <p:sldId id="320" r:id="rId17"/>
    <p:sldId id="317" r:id="rId18"/>
    <p:sldId id="304" r:id="rId19"/>
    <p:sldId id="322" r:id="rId20"/>
    <p:sldId id="323" r:id="rId21"/>
    <p:sldId id="307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9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75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ang Jian-Sheng" userId="7d25d710-0931-49a3-acef-49192cec40f2" providerId="ADAL" clId="{90EC9F45-DF17-4BD4-AEB0-B65D17B43DB8}"/>
    <pc:docChg chg="modSld">
      <pc:chgData name="Wang Jian-Sheng" userId="7d25d710-0931-49a3-acef-49192cec40f2" providerId="ADAL" clId="{90EC9F45-DF17-4BD4-AEB0-B65D17B43DB8}" dt="2026-09-28T03:52:25.346" v="8" actId="20577"/>
      <pc:docMkLst>
        <pc:docMk/>
      </pc:docMkLst>
      <pc:sldChg chg="modSp">
        <pc:chgData name="Wang Jian-Sheng" userId="7d25d710-0931-49a3-acef-49192cec40f2" providerId="ADAL" clId="{90EC9F45-DF17-4BD4-AEB0-B65D17B43DB8}" dt="2026-09-28T03:52:25.346" v="8" actId="20577"/>
        <pc:sldMkLst>
          <pc:docMk/>
          <pc:sldMk cId="3211542180" sldId="316"/>
        </pc:sldMkLst>
        <pc:spChg chg="mod">
          <ac:chgData name="Wang Jian-Sheng" userId="7d25d710-0931-49a3-acef-49192cec40f2" providerId="ADAL" clId="{90EC9F45-DF17-4BD4-AEB0-B65D17B43DB8}" dt="2026-09-28T03:51:53.447" v="6" actId="20577"/>
          <ac:spMkLst>
            <pc:docMk/>
            <pc:sldMk cId="3211542180" sldId="316"/>
            <ac:spMk id="6" creationId="{BA97E1E9-E228-4A2E-9B8A-CC137F46D3A9}"/>
          </ac:spMkLst>
        </pc:spChg>
        <pc:spChg chg="mod">
          <ac:chgData name="Wang Jian-Sheng" userId="7d25d710-0931-49a3-acef-49192cec40f2" providerId="ADAL" clId="{90EC9F45-DF17-4BD4-AEB0-B65D17B43DB8}" dt="2026-09-28T03:52:25.346" v="8" actId="20577"/>
          <ac:spMkLst>
            <pc:docMk/>
            <pc:sldMk cId="3211542180" sldId="316"/>
            <ac:spMk id="10" creationId="{64C8CBCE-699A-4139-8F47-B69CB1B00844}"/>
          </ac:spMkLst>
        </pc:spChg>
      </pc:sldChg>
    </pc:docChg>
  </pc:docChgLst>
  <pc:docChgLst>
    <pc:chgData name="Wang Jian-Sheng" userId="7d25d710-0931-49a3-acef-49192cec40f2" providerId="ADAL" clId="{66572D02-9A0D-4195-ADB6-5DBDF78AF6B3}"/>
    <pc:docChg chg="undo custSel addSld modSld">
      <pc:chgData name="Wang Jian-Sheng" userId="7d25d710-0931-49a3-acef-49192cec40f2" providerId="ADAL" clId="{66572D02-9A0D-4195-ADB6-5DBDF78AF6B3}" dt="2026-09-26T08:55:22.242" v="2997" actId="20577"/>
      <pc:docMkLst>
        <pc:docMk/>
      </pc:docMkLst>
      <pc:sldChg chg="modSp mod">
        <pc:chgData name="Wang Jian-Sheng" userId="7d25d710-0931-49a3-acef-49192cec40f2" providerId="ADAL" clId="{66572D02-9A0D-4195-ADB6-5DBDF78AF6B3}" dt="2026-09-26T07:21:14.535" v="2818" actId="20577"/>
        <pc:sldMkLst>
          <pc:docMk/>
          <pc:sldMk cId="1225445027" sldId="304"/>
        </pc:sldMkLst>
        <pc:spChg chg="mod">
          <ac:chgData name="Wang Jian-Sheng" userId="7d25d710-0931-49a3-acef-49192cec40f2" providerId="ADAL" clId="{66572D02-9A0D-4195-ADB6-5DBDF78AF6B3}" dt="2026-09-26T07:21:14.535" v="2818" actId="20577"/>
          <ac:spMkLst>
            <pc:docMk/>
            <pc:sldMk cId="1225445027" sldId="304"/>
            <ac:spMk id="4" creationId="{FA1F8B85-C139-4C1A-9DA2-EC448C0EFEC8}"/>
          </ac:spMkLst>
        </pc:spChg>
      </pc:sldChg>
      <pc:sldChg chg="modSp mod">
        <pc:chgData name="Wang Jian-Sheng" userId="7d25d710-0931-49a3-acef-49192cec40f2" providerId="ADAL" clId="{66572D02-9A0D-4195-ADB6-5DBDF78AF6B3}" dt="2026-09-26T07:06:11.666" v="2664" actId="20577"/>
        <pc:sldMkLst>
          <pc:docMk/>
          <pc:sldMk cId="3344375912" sldId="305"/>
        </pc:sldMkLst>
        <pc:spChg chg="mod">
          <ac:chgData name="Wang Jian-Sheng" userId="7d25d710-0931-49a3-acef-49192cec40f2" providerId="ADAL" clId="{66572D02-9A0D-4195-ADB6-5DBDF78AF6B3}" dt="2026-09-26T07:06:11.666" v="2664" actId="20577"/>
          <ac:spMkLst>
            <pc:docMk/>
            <pc:sldMk cId="3344375912" sldId="305"/>
            <ac:spMk id="3" creationId="{C6F6C7C6-E083-445D-A671-7F6583EB5FFE}"/>
          </ac:spMkLst>
        </pc:spChg>
      </pc:sldChg>
      <pc:sldChg chg="modSp">
        <pc:chgData name="Wang Jian-Sheng" userId="7d25d710-0931-49a3-acef-49192cec40f2" providerId="ADAL" clId="{66572D02-9A0D-4195-ADB6-5DBDF78AF6B3}" dt="2026-09-26T07:08:23.665" v="2679" actId="20577"/>
        <pc:sldMkLst>
          <pc:docMk/>
          <pc:sldMk cId="2828253874" sldId="309"/>
        </pc:sldMkLst>
        <pc:spChg chg="mod">
          <ac:chgData name="Wang Jian-Sheng" userId="7d25d710-0931-49a3-acef-49192cec40f2" providerId="ADAL" clId="{66572D02-9A0D-4195-ADB6-5DBDF78AF6B3}" dt="2026-09-26T07:08:23.665" v="2679" actId="20577"/>
          <ac:spMkLst>
            <pc:docMk/>
            <pc:sldMk cId="2828253874" sldId="309"/>
            <ac:spMk id="8" creationId="{B60FA9CD-6ED8-44D4-85B7-021A4559915D}"/>
          </ac:spMkLst>
        </pc:spChg>
      </pc:sldChg>
      <pc:sldChg chg="modSp mod">
        <pc:chgData name="Wang Jian-Sheng" userId="7d25d710-0931-49a3-acef-49192cec40f2" providerId="ADAL" clId="{66572D02-9A0D-4195-ADB6-5DBDF78AF6B3}" dt="2026-09-26T07:10:03.667" v="2711" actId="20577"/>
        <pc:sldMkLst>
          <pc:docMk/>
          <pc:sldMk cId="948408039" sldId="310"/>
        </pc:sldMkLst>
        <pc:spChg chg="mod">
          <ac:chgData name="Wang Jian-Sheng" userId="7d25d710-0931-49a3-acef-49192cec40f2" providerId="ADAL" clId="{66572D02-9A0D-4195-ADB6-5DBDF78AF6B3}" dt="2026-09-26T07:10:03.667" v="2711" actId="20577"/>
          <ac:spMkLst>
            <pc:docMk/>
            <pc:sldMk cId="948408039" sldId="310"/>
            <ac:spMk id="3" creationId="{057CE7E4-EF26-4DF8-B802-2DFBCCE0ED8C}"/>
          </ac:spMkLst>
        </pc:spChg>
      </pc:sldChg>
      <pc:sldChg chg="modNotesTx">
        <pc:chgData name="Wang Jian-Sheng" userId="7d25d710-0931-49a3-acef-49192cec40f2" providerId="ADAL" clId="{66572D02-9A0D-4195-ADB6-5DBDF78AF6B3}" dt="2026-09-26T07:10:48.773" v="2712" actId="20577"/>
        <pc:sldMkLst>
          <pc:docMk/>
          <pc:sldMk cId="3164804416" sldId="311"/>
        </pc:sldMkLst>
      </pc:sldChg>
      <pc:sldChg chg="modSp">
        <pc:chgData name="Wang Jian-Sheng" userId="7d25d710-0931-49a3-acef-49192cec40f2" providerId="ADAL" clId="{66572D02-9A0D-4195-ADB6-5DBDF78AF6B3}" dt="2026-09-26T07:14:04.644" v="2722" actId="20577"/>
        <pc:sldMkLst>
          <pc:docMk/>
          <pc:sldMk cId="3761612349" sldId="313"/>
        </pc:sldMkLst>
        <pc:spChg chg="mod">
          <ac:chgData name="Wang Jian-Sheng" userId="7d25d710-0931-49a3-acef-49192cec40f2" providerId="ADAL" clId="{66572D02-9A0D-4195-ADB6-5DBDF78AF6B3}" dt="2026-09-26T07:14:04.644" v="2722" actId="20577"/>
          <ac:spMkLst>
            <pc:docMk/>
            <pc:sldMk cId="3761612349" sldId="313"/>
            <ac:spMk id="6" creationId="{757640F9-B599-48F5-B718-1E9B91A85C9D}"/>
          </ac:spMkLst>
        </pc:spChg>
      </pc:sldChg>
      <pc:sldChg chg="modNotesTx">
        <pc:chgData name="Wang Jian-Sheng" userId="7d25d710-0931-49a3-acef-49192cec40f2" providerId="ADAL" clId="{66572D02-9A0D-4195-ADB6-5DBDF78AF6B3}" dt="2026-09-26T07:15:54.195" v="2777" actId="20577"/>
        <pc:sldMkLst>
          <pc:docMk/>
          <pc:sldMk cId="1191605293" sldId="314"/>
        </pc:sldMkLst>
      </pc:sldChg>
      <pc:sldChg chg="modSp mod">
        <pc:chgData name="Wang Jian-Sheng" userId="7d25d710-0931-49a3-acef-49192cec40f2" providerId="ADAL" clId="{66572D02-9A0D-4195-ADB6-5DBDF78AF6B3}" dt="2026-09-26T07:16:36.691" v="2780" actId="20577"/>
        <pc:sldMkLst>
          <pc:docMk/>
          <pc:sldMk cId="2967016432" sldId="315"/>
        </pc:sldMkLst>
        <pc:spChg chg="mod">
          <ac:chgData name="Wang Jian-Sheng" userId="7d25d710-0931-49a3-acef-49192cec40f2" providerId="ADAL" clId="{66572D02-9A0D-4195-ADB6-5DBDF78AF6B3}" dt="2026-09-26T07:16:36.691" v="2780" actId="20577"/>
          <ac:spMkLst>
            <pc:docMk/>
            <pc:sldMk cId="2967016432" sldId="315"/>
            <ac:spMk id="6" creationId="{384A6A62-CEE9-4936-8862-BA77DD465459}"/>
          </ac:spMkLst>
        </pc:spChg>
      </pc:sldChg>
      <pc:sldChg chg="modSp mod">
        <pc:chgData name="Wang Jian-Sheng" userId="7d25d710-0931-49a3-acef-49192cec40f2" providerId="ADAL" clId="{66572D02-9A0D-4195-ADB6-5DBDF78AF6B3}" dt="2026-09-26T07:17:37.588" v="2781" actId="20577"/>
        <pc:sldMkLst>
          <pc:docMk/>
          <pc:sldMk cId="3211542180" sldId="316"/>
        </pc:sldMkLst>
        <pc:spChg chg="mod">
          <ac:chgData name="Wang Jian-Sheng" userId="7d25d710-0931-49a3-acef-49192cec40f2" providerId="ADAL" clId="{66572D02-9A0D-4195-ADB6-5DBDF78AF6B3}" dt="2026-09-26T07:17:37.588" v="2781" actId="20577"/>
          <ac:spMkLst>
            <pc:docMk/>
            <pc:sldMk cId="3211542180" sldId="316"/>
            <ac:spMk id="33" creationId="{AF167E59-06BD-4B68-8A59-07E4D4BC28CF}"/>
          </ac:spMkLst>
        </pc:spChg>
      </pc:sldChg>
      <pc:sldChg chg="modSp">
        <pc:chgData name="Wang Jian-Sheng" userId="7d25d710-0931-49a3-acef-49192cec40f2" providerId="ADAL" clId="{66572D02-9A0D-4195-ADB6-5DBDF78AF6B3}" dt="2026-09-26T07:18:41.106" v="2785" actId="20577"/>
        <pc:sldMkLst>
          <pc:docMk/>
          <pc:sldMk cId="2268825594" sldId="317"/>
        </pc:sldMkLst>
        <pc:spChg chg="mod">
          <ac:chgData name="Wang Jian-Sheng" userId="7d25d710-0931-49a3-acef-49192cec40f2" providerId="ADAL" clId="{66572D02-9A0D-4195-ADB6-5DBDF78AF6B3}" dt="2026-09-26T07:18:41.106" v="2785" actId="20577"/>
          <ac:spMkLst>
            <pc:docMk/>
            <pc:sldMk cId="2268825594" sldId="317"/>
            <ac:spMk id="7" creationId="{2D9DB7C6-C109-44CB-B9B2-EFA7A5F40352}"/>
          </ac:spMkLst>
        </pc:spChg>
      </pc:sldChg>
      <pc:sldChg chg="modSp mod">
        <pc:chgData name="Wang Jian-Sheng" userId="7d25d710-0931-49a3-acef-49192cec40f2" providerId="ADAL" clId="{66572D02-9A0D-4195-ADB6-5DBDF78AF6B3}" dt="2026-09-26T07:24:41.890" v="2824" actId="20577"/>
        <pc:sldMkLst>
          <pc:docMk/>
          <pc:sldMk cId="2276228516" sldId="319"/>
        </pc:sldMkLst>
        <pc:spChg chg="mod">
          <ac:chgData name="Wang Jian-Sheng" userId="7d25d710-0931-49a3-acef-49192cec40f2" providerId="ADAL" clId="{66572D02-9A0D-4195-ADB6-5DBDF78AF6B3}" dt="2026-09-26T07:24:41.890" v="2824" actId="20577"/>
          <ac:spMkLst>
            <pc:docMk/>
            <pc:sldMk cId="2276228516" sldId="319"/>
            <ac:spMk id="6" creationId="{9690BB86-C9B8-3E52-592B-2A09F355F3B4}"/>
          </ac:spMkLst>
        </pc:spChg>
      </pc:sldChg>
      <pc:sldChg chg="modSp mod">
        <pc:chgData name="Wang Jian-Sheng" userId="7d25d710-0931-49a3-acef-49192cec40f2" providerId="ADAL" clId="{66572D02-9A0D-4195-ADB6-5DBDF78AF6B3}" dt="2026-09-26T07:18:09.682" v="2783" actId="20577"/>
        <pc:sldMkLst>
          <pc:docMk/>
          <pc:sldMk cId="3755367573" sldId="320"/>
        </pc:sldMkLst>
        <pc:spChg chg="mod">
          <ac:chgData name="Wang Jian-Sheng" userId="7d25d710-0931-49a3-acef-49192cec40f2" providerId="ADAL" clId="{66572D02-9A0D-4195-ADB6-5DBDF78AF6B3}" dt="2026-09-26T07:18:09.682" v="2783" actId="20577"/>
          <ac:spMkLst>
            <pc:docMk/>
            <pc:sldMk cId="3755367573" sldId="320"/>
            <ac:spMk id="3" creationId="{9D019E79-3305-A09A-D44F-F160F1779549}"/>
          </ac:spMkLst>
        </pc:spChg>
      </pc:sldChg>
      <pc:sldChg chg="modSp new mod">
        <pc:chgData name="Wang Jian-Sheng" userId="7d25d710-0931-49a3-acef-49192cec40f2" providerId="ADAL" clId="{66572D02-9A0D-4195-ADB6-5DBDF78AF6B3}" dt="2026-09-26T08:55:22.242" v="2997" actId="20577"/>
        <pc:sldMkLst>
          <pc:docMk/>
          <pc:sldMk cId="4056315949" sldId="324"/>
        </pc:sldMkLst>
        <pc:spChg chg="mod">
          <ac:chgData name="Wang Jian-Sheng" userId="7d25d710-0931-49a3-acef-49192cec40f2" providerId="ADAL" clId="{66572D02-9A0D-4195-ADB6-5DBDF78AF6B3}" dt="2026-09-26T06:55:16.402" v="2260" actId="20577"/>
          <ac:spMkLst>
            <pc:docMk/>
            <pc:sldMk cId="4056315949" sldId="324"/>
            <ac:spMk id="2" creationId="{FCA8ED13-56DD-135A-5EA0-4A6FDCB7E619}"/>
          </ac:spMkLst>
        </pc:spChg>
        <pc:spChg chg="mod">
          <ac:chgData name="Wang Jian-Sheng" userId="7d25d710-0931-49a3-acef-49192cec40f2" providerId="ADAL" clId="{66572D02-9A0D-4195-ADB6-5DBDF78AF6B3}" dt="2026-09-26T08:55:22.242" v="2997" actId="20577"/>
          <ac:spMkLst>
            <pc:docMk/>
            <pc:sldMk cId="4056315949" sldId="324"/>
            <ac:spMk id="3" creationId="{1A73A265-E7FD-DA29-E6D6-612D18F033E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C5323C-DA4A-438F-B55F-27209206FB23}" type="datetimeFigureOut">
              <a:rPr lang="en-SG" smtClean="0"/>
              <a:t>28/9/2026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96A136-CBA9-41BE-B678-BB635CF2BB0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05566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Bishop, “Deep </a:t>
            </a:r>
            <a:r>
              <a:rPr lang="en-US"/>
              <a:t>Learning”, Chapter </a:t>
            </a:r>
            <a:r>
              <a:rPr lang="en-US" dirty="0"/>
              <a:t>19.</a:t>
            </a:r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96A136-CBA9-41BE-B678-BB635CF2BB08}" type="slidenum">
              <a:rPr lang="en-SG" smtClean="0"/>
              <a:t>1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793580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use: z = f(x) as a dimension reduction method.</a:t>
            </a:r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96A136-CBA9-41BE-B678-BB635CF2BB08}" type="slidenum">
              <a:rPr lang="en-SG" smtClean="0"/>
              <a:t>3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9368005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We require </a:t>
            </a:r>
            <a:r>
              <a:rPr lang="en-US" dirty="0" err="1"/>
              <a:t>W_f</a:t>
            </a:r>
            <a:r>
              <a:rPr lang="en-US" dirty="0"/>
              <a:t> = </a:t>
            </a:r>
            <a:r>
              <a:rPr lang="en-US" dirty="0" err="1"/>
              <a:t>W_g^T</a:t>
            </a:r>
            <a:r>
              <a:rPr lang="en-US" dirty="0"/>
              <a:t>, where W is an orthogonal matrix.</a:t>
            </a:r>
          </a:p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96A136-CBA9-41BE-B678-BB635CF2BB08}" type="slidenum">
              <a:rPr lang="en-SG" smtClean="0"/>
              <a:t>5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7323011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See page 50 in Bengio.   Here we assume the value is centered, i.e.,  </a:t>
            </a:r>
            <a:r>
              <a:rPr lang="en-US" dirty="0" err="1"/>
              <a:t>sum_n</a:t>
            </a:r>
            <a:r>
              <a:rPr lang="en-US" dirty="0"/>
              <a:t> x^(n) = 0. </a:t>
            </a:r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96A136-CBA9-41BE-B678-BB635CF2BB08}" type="slidenum">
              <a:rPr lang="en-SG" smtClean="0"/>
              <a:t>6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219507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12 of Bishop, “Deep Learning”.</a:t>
            </a:r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96A136-CBA9-41BE-B678-BB635CF2BB08}" type="slidenum">
              <a:rPr lang="en-SG" smtClean="0"/>
              <a:t>7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356597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softmax</a:t>
            </a:r>
            <a:r>
              <a:rPr lang="en-US" dirty="0"/>
              <a:t> is in the direction of m, or row on </a:t>
            </a:r>
            <a:r>
              <a:rPr lang="en-US" dirty="0" err="1"/>
              <a:t>x_n^T</a:t>
            </a:r>
            <a:r>
              <a:rPr lang="en-US" dirty="0"/>
              <a:t> </a:t>
            </a:r>
            <a:r>
              <a:rPr lang="en-US" dirty="0" err="1"/>
              <a:t>x_m</a:t>
            </a:r>
            <a:r>
              <a:rPr lang="en-US" dirty="0"/>
              <a:t>.    The weights </a:t>
            </a:r>
            <a:r>
              <a:rPr lang="en-US" dirty="0" err="1"/>
              <a:t>a_nm</a:t>
            </a:r>
            <a:r>
              <a:rPr lang="en-US" dirty="0"/>
              <a:t> &gt;= 0, </a:t>
            </a:r>
            <a:r>
              <a:rPr lang="en-US" dirty="0" err="1"/>
              <a:t>sum_m</a:t>
            </a:r>
            <a:r>
              <a:rPr lang="en-US" dirty="0"/>
              <a:t> </a:t>
            </a:r>
            <a:r>
              <a:rPr lang="en-US" dirty="0" err="1"/>
              <a:t>a_nm</a:t>
            </a:r>
            <a:r>
              <a:rPr lang="en-US" dirty="0"/>
              <a:t> = 1.</a:t>
            </a:r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96A136-CBA9-41BE-B678-BB635CF2BB08}" type="slidenum">
              <a:rPr lang="en-SG" smtClean="0"/>
              <a:t>9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360866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Query: Which other words in the sentence should I pay attention to? Key: Think of this as a label or index for every word in the sentence: value: actual informational content of the word</a:t>
            </a:r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96A136-CBA9-41BE-B678-BB635CF2BB08}" type="slidenum">
              <a:rPr lang="en-SG" smtClean="0"/>
              <a:t>10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9167298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See week 8 slide 18 for moralization in CNNs.</a:t>
            </a:r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96A136-CBA9-41BE-B678-BB635CF2BB08}" type="slidenum">
              <a:rPr lang="en-SG" smtClean="0"/>
              <a:t>13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8640233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9F94C-8A6A-45FE-82A9-DD9AF81D1AD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4D89F-A9E3-4A7C-9AD9-00E00F245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9705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9F94C-8A6A-45FE-82A9-DD9AF81D1AD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4D89F-A9E3-4A7C-9AD9-00E00F245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50800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9F94C-8A6A-45FE-82A9-DD9AF81D1AD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4D89F-A9E3-4A7C-9AD9-00E00F245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336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9F94C-8A6A-45FE-82A9-DD9AF81D1AD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4D89F-A9E3-4A7C-9AD9-00E00F245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3511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9F94C-8A6A-45FE-82A9-DD9AF81D1AD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4D89F-A9E3-4A7C-9AD9-00E00F245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242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9F94C-8A6A-45FE-82A9-DD9AF81D1AD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4D89F-A9E3-4A7C-9AD9-00E00F245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182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9F94C-8A6A-45FE-82A9-DD9AF81D1AD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4D89F-A9E3-4A7C-9AD9-00E00F245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7383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9F94C-8A6A-45FE-82A9-DD9AF81D1AD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4D89F-A9E3-4A7C-9AD9-00E00F245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9977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9F94C-8A6A-45FE-82A9-DD9AF81D1AD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4D89F-A9E3-4A7C-9AD9-00E00F245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6649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9F94C-8A6A-45FE-82A9-DD9AF81D1AD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4D89F-A9E3-4A7C-9AD9-00E00F245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25289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9F94C-8A6A-45FE-82A9-DD9AF81D1AD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4D89F-A9E3-4A7C-9AD9-00E00F245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0971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89F94C-8A6A-45FE-82A9-DD9AF81D1AD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F4D89F-A9E3-4A7C-9AD9-00E00F245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5888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1.png"/><Relationship Id="rId4" Type="http://schemas.openxmlformats.org/officeDocument/2006/relationships/image" Target="../media/image20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0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1.png"/><Relationship Id="rId7" Type="http://schemas.openxmlformats.org/officeDocument/2006/relationships/image" Target="../media/image26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0.png"/><Relationship Id="rId5" Type="http://schemas.openxmlformats.org/officeDocument/2006/relationships/image" Target="../media/image240.png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0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elanapearl.github.io/blog/2024/the-illustrated-alphafold/" TargetMode="External"/><Relationship Id="rId2" Type="http://schemas.openxmlformats.org/officeDocument/2006/relationships/image" Target="../media/image56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E2F1026-AD94-4412-BD4F-59BB80E513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811463"/>
            <a:ext cx="7772400" cy="2387600"/>
          </a:xfrm>
        </p:spPr>
        <p:txBody>
          <a:bodyPr>
            <a:normAutofit fontScale="90000"/>
          </a:bodyPr>
          <a:lstStyle/>
          <a:p>
            <a:r>
              <a:rPr lang="en-US" dirty="0"/>
              <a:t>Week 9,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Encoder, decoder, transformer</a:t>
            </a:r>
          </a:p>
        </p:txBody>
      </p:sp>
    </p:spTree>
    <p:extLst>
      <p:ext uri="{BB962C8B-B14F-4D97-AF65-F5344CB8AC3E}">
        <p14:creationId xmlns:p14="http://schemas.microsoft.com/office/powerpoint/2010/main" val="21531888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8ED13-56DD-135A-5EA0-4A6FDCB7E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73A265-E7FD-DA29-E6D6-612D18F033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Autoencoder: the encoder-decoder concept and its relation to principal component analysis (PCA)</a:t>
            </a:r>
          </a:p>
          <a:p>
            <a:endParaRPr lang="en-US" dirty="0"/>
          </a:p>
          <a:p>
            <a:r>
              <a:rPr lang="en-US" dirty="0"/>
              <a:t>Transformer: attention, multi-head attention, layer normalization, position encoding</a:t>
            </a:r>
          </a:p>
          <a:p>
            <a:endParaRPr lang="en-US" dirty="0"/>
          </a:p>
          <a:p>
            <a:r>
              <a:rPr lang="en-US" dirty="0"/>
              <a:t>Applications: machine translation, GPT, and AlphaFold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63159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2E4E8-1BE1-41ED-AA2A-BF98C9CE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Autoencoder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01BD7683-4440-4F22-BB31-7298F07192FC}"/>
                  </a:ext>
                </a:extLst>
              </p:cNvPr>
              <p:cNvSpPr/>
              <p:nvPr/>
            </p:nvSpPr>
            <p:spPr>
              <a:xfrm>
                <a:off x="1208316" y="2266406"/>
                <a:ext cx="372291" cy="37229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01BD7683-4440-4F22-BB31-7298F07192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8316" y="2266406"/>
                <a:ext cx="372291" cy="372291"/>
              </a:xfrm>
              <a:prstGeom prst="ellipse">
                <a:avLst/>
              </a:prstGeom>
              <a:blipFill>
                <a:blip r:embed="rId3"/>
                <a:stretch>
                  <a:fillRect l="-3175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878B8FDC-AB7C-487C-872A-EE146F7D01BC}"/>
                  </a:ext>
                </a:extLst>
              </p:cNvPr>
              <p:cNvSpPr/>
              <p:nvPr/>
            </p:nvSpPr>
            <p:spPr>
              <a:xfrm>
                <a:off x="1210493" y="2882537"/>
                <a:ext cx="372291" cy="37229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878B8FDC-AB7C-487C-872A-EE146F7D01B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0493" y="2882537"/>
                <a:ext cx="372291" cy="372291"/>
              </a:xfrm>
              <a:prstGeom prst="ellipse">
                <a:avLst/>
              </a:prstGeom>
              <a:blipFill>
                <a:blip r:embed="rId4"/>
                <a:stretch>
                  <a:fillRect l="-4762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F348C92-2C44-4172-9E56-26AE57F7B111}"/>
                  </a:ext>
                </a:extLst>
              </p:cNvPr>
              <p:cNvSpPr/>
              <p:nvPr/>
            </p:nvSpPr>
            <p:spPr>
              <a:xfrm>
                <a:off x="1210491" y="3509552"/>
                <a:ext cx="372291" cy="37229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F348C92-2C44-4172-9E56-26AE57F7B1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0491" y="3509552"/>
                <a:ext cx="372291" cy="372291"/>
              </a:xfrm>
              <a:prstGeom prst="ellipse">
                <a:avLst/>
              </a:prstGeom>
              <a:blipFill>
                <a:blip r:embed="rId5"/>
                <a:stretch>
                  <a:fillRect l="-4762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CD62ED2-1FC2-40C0-9C48-B3C7768F738D}"/>
                  </a:ext>
                </a:extLst>
              </p:cNvPr>
              <p:cNvSpPr/>
              <p:nvPr/>
            </p:nvSpPr>
            <p:spPr>
              <a:xfrm>
                <a:off x="1206141" y="4889859"/>
                <a:ext cx="372291" cy="37229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CD62ED2-1FC2-40C0-9C48-B3C7768F73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6141" y="4889859"/>
                <a:ext cx="372291" cy="372291"/>
              </a:xfrm>
              <a:prstGeom prst="ellipse">
                <a:avLst/>
              </a:prstGeom>
              <a:blipFill>
                <a:blip r:embed="rId6"/>
                <a:stretch>
                  <a:fillRect l="-7937" b="-158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3A3D825-73BE-4C8A-9449-A2308B77A11A}"/>
                  </a:ext>
                </a:extLst>
              </p:cNvPr>
              <p:cNvSpPr txBox="1"/>
              <p:nvPr/>
            </p:nvSpPr>
            <p:spPr>
              <a:xfrm>
                <a:off x="1217024" y="4167051"/>
                <a:ext cx="3527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SG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3A3D825-73BE-4C8A-9449-A2308B77A1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7024" y="4167051"/>
                <a:ext cx="35270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A2F197CE-34BF-429A-82B8-FEA3A452D9E9}"/>
                  </a:ext>
                </a:extLst>
              </p:cNvPr>
              <p:cNvSpPr/>
              <p:nvPr/>
            </p:nvSpPr>
            <p:spPr>
              <a:xfrm>
                <a:off x="4985646" y="2262052"/>
                <a:ext cx="372291" cy="37229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A2F197CE-34BF-429A-82B8-FEA3A452D9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5646" y="2262052"/>
                <a:ext cx="372291" cy="372291"/>
              </a:xfrm>
              <a:prstGeom prst="ellipse">
                <a:avLst/>
              </a:prstGeom>
              <a:blipFill>
                <a:blip r:embed="rId8"/>
                <a:stretch>
                  <a:fillRect l="-4762" b="-7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E9E1D637-24F3-4E4E-B6B3-4F0B93D687DC}"/>
                  </a:ext>
                </a:extLst>
              </p:cNvPr>
              <p:cNvSpPr/>
              <p:nvPr/>
            </p:nvSpPr>
            <p:spPr>
              <a:xfrm>
                <a:off x="4987823" y="2878183"/>
                <a:ext cx="372291" cy="37229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E9E1D637-24F3-4E4E-B6B3-4F0B93D687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7823" y="2878183"/>
                <a:ext cx="372291" cy="372291"/>
              </a:xfrm>
              <a:prstGeom prst="ellipse">
                <a:avLst/>
              </a:prstGeom>
              <a:blipFill>
                <a:blip r:embed="rId9"/>
                <a:stretch>
                  <a:fillRect l="-4762" b="-7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6C8DF6F5-E639-40AC-9D8F-2BB9CB1030E5}"/>
                  </a:ext>
                </a:extLst>
              </p:cNvPr>
              <p:cNvSpPr/>
              <p:nvPr/>
            </p:nvSpPr>
            <p:spPr>
              <a:xfrm>
                <a:off x="4987821" y="3505198"/>
                <a:ext cx="372291" cy="37229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6C8DF6F5-E639-40AC-9D8F-2BB9CB1030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7821" y="3505198"/>
                <a:ext cx="372291" cy="372291"/>
              </a:xfrm>
              <a:prstGeom prst="ellipse">
                <a:avLst/>
              </a:prstGeom>
              <a:blipFill>
                <a:blip r:embed="rId10"/>
                <a:stretch>
                  <a:fillRect l="-4762" b="-7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BFEA7E7C-F55E-42F7-B808-C930D9314D30}"/>
                  </a:ext>
                </a:extLst>
              </p:cNvPr>
              <p:cNvSpPr/>
              <p:nvPr/>
            </p:nvSpPr>
            <p:spPr>
              <a:xfrm>
                <a:off x="4983471" y="4885505"/>
                <a:ext cx="372291" cy="37229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BFEA7E7C-F55E-42F7-B808-C930D9314D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3471" y="4885505"/>
                <a:ext cx="372291" cy="372291"/>
              </a:xfrm>
              <a:prstGeom prst="ellipse">
                <a:avLst/>
              </a:prstGeom>
              <a:blipFill>
                <a:blip r:embed="rId11"/>
                <a:stretch>
                  <a:fillRect l="-7813" b="-7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9439671-3F1E-4DA3-BD2B-91096E090B5E}"/>
                  </a:ext>
                </a:extLst>
              </p:cNvPr>
              <p:cNvSpPr txBox="1"/>
              <p:nvPr/>
            </p:nvSpPr>
            <p:spPr>
              <a:xfrm>
                <a:off x="4994354" y="4162697"/>
                <a:ext cx="3527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SG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9439671-3F1E-4DA3-BD2B-91096E090B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4354" y="4162697"/>
                <a:ext cx="352700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F45EB3FC-A215-4347-831A-BEF75BCCFC99}"/>
                  </a:ext>
                </a:extLst>
              </p:cNvPr>
              <p:cNvSpPr/>
              <p:nvPr/>
            </p:nvSpPr>
            <p:spPr>
              <a:xfrm>
                <a:off x="2958737" y="2945674"/>
                <a:ext cx="3048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F45EB3FC-A215-4347-831A-BEF75BCCFC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8737" y="2945674"/>
                <a:ext cx="304800" cy="304800"/>
              </a:xfrm>
              <a:prstGeom prst="rect">
                <a:avLst/>
              </a:prstGeom>
              <a:blipFill>
                <a:blip r:embed="rId13"/>
                <a:stretch>
                  <a:fillRect l="-13462" r="-1923" b="-11538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327774-9CB1-47F4-8810-4B9A8904A241}"/>
                  </a:ext>
                </a:extLst>
              </p:cNvPr>
              <p:cNvSpPr/>
              <p:nvPr/>
            </p:nvSpPr>
            <p:spPr>
              <a:xfrm>
                <a:off x="2973980" y="3450768"/>
                <a:ext cx="3048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327774-9CB1-47F4-8810-4B9A8904A2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3980" y="3450768"/>
                <a:ext cx="304800" cy="304800"/>
              </a:xfrm>
              <a:prstGeom prst="rect">
                <a:avLst/>
              </a:prstGeom>
              <a:blipFill>
                <a:blip r:embed="rId14"/>
                <a:stretch>
                  <a:fillRect l="-13462" r="-1923" b="-11538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641B609-4A46-4BAF-8144-E1DF2629B1DE}"/>
                  </a:ext>
                </a:extLst>
              </p:cNvPr>
              <p:cNvSpPr txBox="1"/>
              <p:nvPr/>
            </p:nvSpPr>
            <p:spPr>
              <a:xfrm>
                <a:off x="2943492" y="3849189"/>
                <a:ext cx="3527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SG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641B609-4A46-4BAF-8144-E1DF2629B1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3492" y="3849189"/>
                <a:ext cx="352700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5997E832-DCE6-4D0C-8BF7-262D9BC4512A}"/>
                  </a:ext>
                </a:extLst>
              </p:cNvPr>
              <p:cNvSpPr/>
              <p:nvPr/>
            </p:nvSpPr>
            <p:spPr>
              <a:xfrm>
                <a:off x="2987043" y="4214945"/>
                <a:ext cx="3048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5997E832-DCE6-4D0C-8BF7-262D9BC451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7043" y="4214945"/>
                <a:ext cx="304800" cy="304800"/>
              </a:xfrm>
              <a:prstGeom prst="rect">
                <a:avLst/>
              </a:prstGeom>
              <a:blipFill>
                <a:blip r:embed="rId16"/>
                <a:stretch>
                  <a:fillRect l="-23077" r="-11538" b="-11538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25E81BD-32C0-4040-8D3E-F1ED755884F7}"/>
                  </a:ext>
                </a:extLst>
              </p:cNvPr>
              <p:cNvSpPr txBox="1"/>
              <p:nvPr/>
            </p:nvSpPr>
            <p:spPr>
              <a:xfrm>
                <a:off x="2746931" y="5650131"/>
                <a:ext cx="78502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≫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25E81BD-32C0-4040-8D3E-F1ED755884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6931" y="5650131"/>
                <a:ext cx="785023" cy="276999"/>
              </a:xfrm>
              <a:prstGeom prst="rect">
                <a:avLst/>
              </a:prstGeom>
              <a:blipFill>
                <a:blip r:embed="rId17"/>
                <a:stretch>
                  <a:fillRect l="-5469" r="-4688" b="-1555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1DEC28F-A1C8-4C24-960D-6827B35DD343}"/>
              </a:ext>
            </a:extLst>
          </p:cNvPr>
          <p:cNvCxnSpPr/>
          <p:nvPr/>
        </p:nvCxnSpPr>
        <p:spPr>
          <a:xfrm>
            <a:off x="1783080" y="2560320"/>
            <a:ext cx="1018903" cy="5040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FF1F278-33F4-48BE-B33C-92C6D7133288}"/>
              </a:ext>
            </a:extLst>
          </p:cNvPr>
          <p:cNvCxnSpPr/>
          <p:nvPr/>
        </p:nvCxnSpPr>
        <p:spPr>
          <a:xfrm>
            <a:off x="1759132" y="3036093"/>
            <a:ext cx="925285" cy="619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BE9DD66-91DB-4A60-BBE7-A92F597E84F5}"/>
              </a:ext>
            </a:extLst>
          </p:cNvPr>
          <p:cNvCxnSpPr/>
          <p:nvPr/>
        </p:nvCxnSpPr>
        <p:spPr>
          <a:xfrm flipV="1">
            <a:off x="1808118" y="3180806"/>
            <a:ext cx="869768" cy="4223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DA73420-4218-4F3E-9EFC-E794848CEB23}"/>
              </a:ext>
            </a:extLst>
          </p:cNvPr>
          <p:cNvCxnSpPr/>
          <p:nvPr/>
        </p:nvCxnSpPr>
        <p:spPr>
          <a:xfrm flipV="1">
            <a:off x="1661710" y="3250474"/>
            <a:ext cx="1140273" cy="16350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1478EB5-28CF-4BD4-BD75-4A1F3BF336B6}"/>
              </a:ext>
            </a:extLst>
          </p:cNvPr>
          <p:cNvCxnSpPr/>
          <p:nvPr/>
        </p:nvCxnSpPr>
        <p:spPr>
          <a:xfrm>
            <a:off x="1808118" y="2697480"/>
            <a:ext cx="993865" cy="16498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1CB9ADB-9EAE-4FD2-B7FC-F9029862FC79}"/>
              </a:ext>
            </a:extLst>
          </p:cNvPr>
          <p:cNvCxnSpPr/>
          <p:nvPr/>
        </p:nvCxnSpPr>
        <p:spPr>
          <a:xfrm>
            <a:off x="1724291" y="3755568"/>
            <a:ext cx="953595" cy="6988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9185394-DFEA-45DF-98CE-5C1343C9A4DF}"/>
              </a:ext>
            </a:extLst>
          </p:cNvPr>
          <p:cNvCxnSpPr/>
          <p:nvPr/>
        </p:nvCxnSpPr>
        <p:spPr>
          <a:xfrm flipV="1">
            <a:off x="1938741" y="3672836"/>
            <a:ext cx="888280" cy="228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7046F39-E25D-47CB-86D7-0148AFCB1FB4}"/>
              </a:ext>
            </a:extLst>
          </p:cNvPr>
          <p:cNvCxnSpPr/>
          <p:nvPr/>
        </p:nvCxnSpPr>
        <p:spPr>
          <a:xfrm flipV="1">
            <a:off x="3533503" y="2501537"/>
            <a:ext cx="1162594" cy="4441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5C93FF3-5EED-4094-8EBA-570568FE87DD}"/>
              </a:ext>
            </a:extLst>
          </p:cNvPr>
          <p:cNvCxnSpPr/>
          <p:nvPr/>
        </p:nvCxnSpPr>
        <p:spPr>
          <a:xfrm>
            <a:off x="3631474" y="3098074"/>
            <a:ext cx="1077686" cy="5747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71383B41-5984-439C-ACD9-5ED6E19170F9}"/>
              </a:ext>
            </a:extLst>
          </p:cNvPr>
          <p:cNvCxnSpPr/>
          <p:nvPr/>
        </p:nvCxnSpPr>
        <p:spPr>
          <a:xfrm>
            <a:off x="3533503" y="3603168"/>
            <a:ext cx="1214846" cy="12823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90F979D-260B-4A17-8ACE-EB0B79BF5660}"/>
              </a:ext>
            </a:extLst>
          </p:cNvPr>
          <p:cNvCxnSpPr/>
          <p:nvPr/>
        </p:nvCxnSpPr>
        <p:spPr>
          <a:xfrm flipV="1">
            <a:off x="3425739" y="2697480"/>
            <a:ext cx="1433635" cy="16698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EE72F2F-7F5E-4D2E-A138-E8B864F9A11E}"/>
              </a:ext>
            </a:extLst>
          </p:cNvPr>
          <p:cNvCxnSpPr/>
          <p:nvPr/>
        </p:nvCxnSpPr>
        <p:spPr>
          <a:xfrm>
            <a:off x="3503009" y="3603168"/>
            <a:ext cx="1134305" cy="152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8FF6E83-57E9-4AAC-9C05-86A6A2BFC9F7}"/>
              </a:ext>
            </a:extLst>
          </p:cNvPr>
          <p:cNvCxnSpPr/>
          <p:nvPr/>
        </p:nvCxnSpPr>
        <p:spPr>
          <a:xfrm>
            <a:off x="3481260" y="4454434"/>
            <a:ext cx="1227900" cy="617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AC003D3-43F2-4AF3-AAFE-4A799502AC58}"/>
                  </a:ext>
                </a:extLst>
              </p:cNvPr>
              <p:cNvSpPr txBox="1"/>
              <p:nvPr/>
            </p:nvSpPr>
            <p:spPr>
              <a:xfrm>
                <a:off x="6466114" y="1469571"/>
                <a:ext cx="1798299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Maps: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SG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SG" sz="2400" dirty="0"/>
              </a:p>
              <a:p>
                <a:endParaRPr lang="en-US" dirty="0"/>
              </a:p>
              <a:p>
                <a:r>
                  <a:rPr lang="en-US" dirty="0"/>
                  <a:t>Minimize, </a:t>
                </a:r>
                <a:r>
                  <a:rPr lang="en-US" err="1"/>
                  <a:t>i</a:t>
                </a:r>
                <a:r>
                  <a:rPr lang="en-US"/>
                  <a:t>.</a:t>
                </a:r>
                <a:r>
                  <a:rPr lang="en-US" dirty="0"/>
                  <a:t>e</a:t>
                </a:r>
                <a:r>
                  <a:rPr lang="en-US"/>
                  <a:t>.,</a:t>
                </a:r>
                <a:endParaRPr lang="en-US" dirty="0"/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SG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AC003D3-43F2-4AF3-AAFE-4A799502AC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6114" y="1469571"/>
                <a:ext cx="1798299" cy="2585323"/>
              </a:xfrm>
              <a:prstGeom prst="rect">
                <a:avLst/>
              </a:prstGeom>
              <a:blipFill>
                <a:blip r:embed="rId18"/>
                <a:stretch>
                  <a:fillRect l="-3051" t="-1179" r="-2712" b="-165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CE69E05-9D30-412B-AA0B-FA6F0EB4A712}"/>
                  </a:ext>
                </a:extLst>
              </p:cNvPr>
              <p:cNvSpPr txBox="1"/>
              <p:nvPr/>
            </p:nvSpPr>
            <p:spPr>
              <a:xfrm>
                <a:off x="2073186" y="1620667"/>
                <a:ext cx="2428550" cy="4280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 </m:t>
                      </m:r>
                      <m:groupChr>
                        <m:groupChrPr>
                          <m:chr m:val="→"/>
                          <m:vertJc m:val="bot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sty m:val="p"/>
                              <m:brk m:alnAt="2"/>
                            </m:rP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e</m:t>
                          </m:r>
                          <m:r>
                            <m:rPr>
                              <m:sty m:val="p"/>
                            </m:rP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ncode</m:t>
                          </m:r>
                        </m:e>
                      </m:groupCh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 </m:t>
                      </m:r>
                      <m:groupChr>
                        <m:groupChrPr>
                          <m:chr m:val="→"/>
                          <m:vertJc m:val="bot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sty m:val="p"/>
                              <m:brk m:alnAt="2"/>
                            </m:rP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sty m:val="p"/>
                            </m:rP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ecode</m:t>
                          </m:r>
                        </m:e>
                      </m:groupCh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SG" sz="20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CE69E05-9D30-412B-AA0B-FA6F0EB4A7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3186" y="1620667"/>
                <a:ext cx="2428550" cy="42800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9727DB3-9A80-B50A-9ED6-8B64E5F46F6F}"/>
                  </a:ext>
                </a:extLst>
              </p:cNvPr>
              <p:cNvSpPr txBox="1"/>
              <p:nvPr/>
            </p:nvSpPr>
            <p:spPr>
              <a:xfrm>
                <a:off x="6425120" y="5426758"/>
                <a:ext cx="1668293" cy="8002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The function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SG" sz="1400" dirty="0"/>
                  <a:t> 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SG" sz="1400" dirty="0"/>
                  <a:t> can be an arbitrary </a:t>
                </a:r>
                <a:r>
                  <a:rPr lang="en-SG" dirty="0"/>
                  <a:t>MLP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9727DB3-9A80-B50A-9ED6-8B64E5F46F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5120" y="5426758"/>
                <a:ext cx="1668293" cy="800219"/>
              </a:xfrm>
              <a:prstGeom prst="rect">
                <a:avLst/>
              </a:prstGeom>
              <a:blipFill>
                <a:blip r:embed="rId20"/>
                <a:stretch>
                  <a:fillRect l="-1095" t="-1527" b="-11450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11431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8E2FB-F18B-922D-8DAA-40D9CC783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autoencoder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48DC9E-92C4-E33C-3282-94CF57044A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662" y="1834716"/>
            <a:ext cx="4560352" cy="33517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690BB86-C9B8-3E52-592B-2A09F355F3B4}"/>
              </a:ext>
            </a:extLst>
          </p:cNvPr>
          <p:cNvSpPr txBox="1"/>
          <p:nvPr/>
        </p:nvSpPr>
        <p:spPr>
          <a:xfrm>
            <a:off x="6680362" y="1855843"/>
            <a:ext cx="1904879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Bishop, Figure 19.2  Adding extra hidden layers of nonlinear units produces an </a:t>
            </a:r>
            <a:r>
              <a:rPr lang="en-US" sz="1600"/>
              <a:t>autoassociative</a:t>
            </a:r>
            <a:r>
              <a:rPr lang="en-US" sz="1600" dirty="0"/>
              <a:t> (autoencoder) network, which can perform a nonlinear dimensionality reduction.</a:t>
            </a:r>
            <a:endParaRPr lang="en-SG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131C3C6-D909-8913-14EB-4802DA994292}"/>
                  </a:ext>
                </a:extLst>
              </p:cNvPr>
              <p:cNvSpPr txBox="1"/>
              <p:nvPr/>
            </p:nvSpPr>
            <p:spPr>
              <a:xfrm>
                <a:off x="977629" y="5904407"/>
                <a:ext cx="641052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Other ways other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SG" dirty="0"/>
                  <a:t>: 1)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SG" dirty="0"/>
                  <a:t>regularization 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SG" dirty="0"/>
                  <a:t>. 2) add noise to input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SG" dirty="0"/>
                  <a:t>. 3) probabilistic models 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131C3C6-D909-8913-14EB-4802DA99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629" y="5904407"/>
                <a:ext cx="6410528" cy="646331"/>
              </a:xfrm>
              <a:prstGeom prst="rect">
                <a:avLst/>
              </a:prstGeom>
              <a:blipFill>
                <a:blip r:embed="rId3"/>
                <a:stretch>
                  <a:fillRect l="-760" t="-5660" b="-1415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62285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A1A41-ACBB-49A5-8FFA-9A2968558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Encoder as principal component analysis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F6C7C6-E083-445D-A671-7F6583EB5F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4"/>
                <a:ext cx="7886700" cy="4852413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Let transformations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SG" dirty="0"/>
                  <a:t> </a:t>
                </a:r>
                <a14:m>
                  <m:oMath xmlns:m="http://schemas.openxmlformats.org/officeDocument/2006/math">
                    <m:groupChr>
                      <m:groupChrPr>
                        <m:chr m:val="→"/>
                        <m:vertJc m:val="bot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SG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groupChr>
                      <m:groupChrPr>
                        <m:chr m:val="→"/>
                        <m:vertJc m:val="bot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SG" dirty="0"/>
                  <a:t> be linear, i.e.,</a:t>
                </a:r>
              </a:p>
              <a:p>
                <a:pPr marL="0" indent="0">
                  <a:buNone/>
                </a:pPr>
                <a:r>
                  <a:rPr lang="en-SG" i="1" dirty="0">
                    <a:latin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𝐳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b="1" i="0" smtClean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SG" dirty="0"/>
                  <a:t> and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𝐲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</m:sSub>
                    <m:r>
                      <a:rPr lang="en-US" b="1" i="0" smtClean="0">
                        <a:latin typeface="Cambria Math" panose="02040503050406030204" pitchFamily="18" charset="0"/>
                      </a:rPr>
                      <m:t>𝐳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</m:sSub>
                  </m:oMath>
                </a14:m>
                <a:endParaRPr lang="en-SG" dirty="0"/>
              </a:p>
              <a:p>
                <a:endParaRPr lang="en-US" dirty="0"/>
              </a:p>
              <a:p>
                <a:r>
                  <a:rPr lang="en-US" dirty="0"/>
                  <a:t>so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𝐲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b="1" i="0" smtClean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</m:sSub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</m:sSub>
                  </m:oMath>
                </a14:m>
                <a:r>
                  <a:rPr lang="en-SG" dirty="0"/>
                  <a:t> with  </a:t>
                </a:r>
              </a:p>
              <a:p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p>
                                        <m:d>
                                          <m:d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𝑛</m:t>
                                            </m:r>
                                          </m:e>
                                        </m:d>
                                      </m:sup>
                                    </m:sSup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SG" dirty="0"/>
                  <a:t> being minimized</a:t>
                </a:r>
              </a:p>
              <a:p>
                <a:endParaRPr lang="en-US" dirty="0"/>
              </a:p>
              <a:p>
                <a:r>
                  <a:rPr lang="en-US" dirty="0"/>
                  <a:t>P</a:t>
                </a:r>
                <a:r>
                  <a:rPr lang="en-SG" dirty="0"/>
                  <a:t>CA: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b="1" i="0" smtClean="0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r>
                  <a:rPr lang="en-SG" dirty="0"/>
                  <a:t>, 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𝐳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𝐳</m:t>
                    </m:r>
                  </m:oMath>
                </a14:m>
                <a:r>
                  <a:rPr lang="en-SG" dirty="0"/>
                  <a:t> subject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SG" dirty="0"/>
                  <a:t>.  The optimal columns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SG" dirty="0"/>
                  <a:t> are the principal eigenvectors of data covariance matrix.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F6C7C6-E083-445D-A671-7F6583EB5F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4"/>
                <a:ext cx="7886700" cy="4852413"/>
              </a:xfrm>
              <a:blipFill>
                <a:blip r:embed="rId3"/>
                <a:stretch>
                  <a:fillRect l="-1159" t="-503" r="-1855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43759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4F51982-A22A-BB66-5CCE-278441691CA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Special case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SG" dirty="0"/>
                  <a:t> (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×1</m:t>
                    </m:r>
                  </m:oMath>
                </a14:m>
                <a:r>
                  <a:rPr lang="en-SG" dirty="0"/>
                  <a:t>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4F51982-A22A-BB66-5CCE-278441691C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3091" r="-618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21678E-C64B-8116-4594-83CB1DB0D1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problem becomes</a:t>
                </a:r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‖"/>
                                    <m:endChr m:val="‖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  <m:sSup>
                                      <m:s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𝜙</m:t>
                                        </m:r>
                                      </m:e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p>
                                        <m:d>
                                          <m:d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𝑛</m:t>
                                            </m:r>
                                          </m:e>
                                        </m:d>
                                      </m:sup>
                                    </m:s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p>
                                        <m:d>
                                          <m:d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𝑛</m:t>
                                            </m:r>
                                          </m:e>
                                        </m:d>
                                      </m:sup>
                                    </m:sSup>
                                  </m:e>
                                </m:d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func>
                  </m:oMath>
                </a14:m>
                <a:r>
                  <a:rPr lang="en-SG" dirty="0"/>
                  <a:t> subject to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SG" dirty="0"/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Tr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  <m:sSup>
                                      <m:sSup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𝜙</m:t>
                                        </m:r>
                                      </m:e>
                                      <m:sup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𝜙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</m:func>
                  </m:oMath>
                </a14:m>
                <a:endParaRPr lang="en-SG" dirty="0"/>
              </a:p>
              <a:p>
                <a:r>
                  <a:rPr lang="en-SG" dirty="0"/>
                  <a:t>Expand out, use cyclic permutation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𝜙𝜙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endParaRPr lang="en-SG" dirty="0"/>
              </a:p>
              <a:p>
                <a:r>
                  <a:rPr lang="en-US" dirty="0"/>
                  <a:t>max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</m:d>
                  </m:oMath>
                </a14:m>
                <a:r>
                  <a:rPr lang="en-SG" dirty="0"/>
                  <a:t>  subject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SG" dirty="0"/>
              </a:p>
              <a:p>
                <a:endParaRPr lang="en-SG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𝜙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𝜆𝜙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21678E-C64B-8116-4594-83CB1DB0D1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1391" t="-238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CEB1470-7900-7E2B-6BE9-F0D318F0C088}"/>
                  </a:ext>
                </a:extLst>
              </p:cNvPr>
              <p:cNvSpPr txBox="1"/>
              <p:nvPr/>
            </p:nvSpPr>
            <p:spPr>
              <a:xfrm>
                <a:off x="6123562" y="5539902"/>
                <a:ext cx="2548647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Eigenvalue problem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𝜆𝜙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CEB1470-7900-7E2B-6BE9-F0D318F0C0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3562" y="5539902"/>
                <a:ext cx="2548647" cy="923330"/>
              </a:xfrm>
              <a:prstGeom prst="rect">
                <a:avLst/>
              </a:prstGeom>
              <a:blipFill>
                <a:blip r:embed="rId5"/>
                <a:stretch>
                  <a:fillRect l="-2153" t="-3974" b="-5960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089098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3FAAFCD-0462-41D3-9006-859FDF7661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0517" y="3298874"/>
            <a:ext cx="1516931" cy="3429001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E44F1881-7615-4B5D-80DD-90AFD13F6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Transformer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B60FA9CD-6ED8-44D4-85B7-021A455991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635932"/>
                <a:ext cx="7886700" cy="4351338"/>
              </a:xfrm>
            </p:spPr>
            <p:txBody>
              <a:bodyPr/>
              <a:lstStyle/>
              <a:p>
                <a:r>
                  <a:rPr lang="en-US" dirty="0"/>
                  <a:t>A transformer consists of two main parts: an attention mechanism that processes the data sequences and an MLP that processes the data on each token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endParaRPr lang="en-SG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B60FA9CD-6ED8-44D4-85B7-021A455991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635932"/>
                <a:ext cx="7886700" cy="4351338"/>
              </a:xfrm>
              <a:blipFill>
                <a:blip r:embed="rId4"/>
                <a:stretch>
                  <a:fillRect l="-1391" t="-238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70FC7643-2C23-43C7-A953-2E7CC1386B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95937" y="3780534"/>
            <a:ext cx="1937766" cy="3012666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0521856-1906-408F-8329-8D11631E4569}"/>
              </a:ext>
            </a:extLst>
          </p:cNvPr>
          <p:cNvCxnSpPr/>
          <p:nvPr/>
        </p:nvCxnSpPr>
        <p:spPr>
          <a:xfrm>
            <a:off x="2612571" y="4271554"/>
            <a:ext cx="0" cy="13258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7C29813-108E-4AF8-810F-EFFD2F12104B}"/>
                  </a:ext>
                </a:extLst>
              </p:cNvPr>
              <p:cNvSpPr txBox="1"/>
              <p:nvPr/>
            </p:nvSpPr>
            <p:spPr>
              <a:xfrm>
                <a:off x="1055077" y="4178106"/>
                <a:ext cx="1399734" cy="24006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sequence/attention</a:t>
                </a:r>
              </a:p>
              <a:p>
                <a:r>
                  <a:rPr lang="en-US" dirty="0"/>
                  <a:t>direction, e.g., a sentence.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SG" sz="1400" dirty="0"/>
                  <a:t> fixed,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SG" sz="1400" dirty="0"/>
                  <a:t> change from input to input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7C29813-108E-4AF8-810F-EFFD2F1210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077" y="4178106"/>
                <a:ext cx="1399734" cy="2400657"/>
              </a:xfrm>
              <a:prstGeom prst="rect">
                <a:avLst/>
              </a:prstGeom>
              <a:blipFill>
                <a:blip r:embed="rId6"/>
                <a:stretch>
                  <a:fillRect l="-3478" t="-1269" r="-2609" b="-177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282538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48E24-1964-34C8-249E-AF145F7CB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Attention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B5CEB8-66E0-4C2A-0C55-F183AAFA5A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112" y="1690689"/>
            <a:ext cx="5029547" cy="20426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639C975-C5C3-35DE-0613-8A1D5D6B67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030" y="4157705"/>
            <a:ext cx="5029547" cy="24083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A39A2F4-2551-582A-DCD7-D70F251CD304}"/>
              </a:ext>
            </a:extLst>
          </p:cNvPr>
          <p:cNvSpPr txBox="1"/>
          <p:nvPr/>
        </p:nvSpPr>
        <p:spPr>
          <a:xfrm>
            <a:off x="530157" y="4513634"/>
            <a:ext cx="28891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Compare: I walked across the road to get cash from the </a:t>
            </a:r>
            <a:r>
              <a:rPr lang="en-US" dirty="0">
                <a:solidFill>
                  <a:srgbClr val="C00000"/>
                </a:solidFill>
              </a:rPr>
              <a:t>bank</a:t>
            </a:r>
            <a:r>
              <a:rPr lang="en-US" dirty="0"/>
              <a:t>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191830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44F1881-7615-4B5D-80DD-90AFD13F6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Attention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B60FA9CD-6ED8-44D4-85B7-021A455991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𝐲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𝑛𝑚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0" smtClean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S</a:t>
                </a:r>
                <a:r>
                  <a:rPr lang="en-SG" dirty="0"/>
                  <a:t>elf-attention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Sup>
                                <m:sSubSup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1" i="0" smtClean="0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0" smtClean="0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brk m:alnAt="23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bSup>
                                    <m:sSubSupPr>
                                      <m:ctrlPr>
                                        <a:rPr lang="en-US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b="1" i="0" smtClean="0">
                                          <a:latin typeface="Cambria Math" panose="02040503050406030204" pitchFamily="18" charset="0"/>
                                        </a:rPr>
                                        <m:t>𝐱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sup>
                                  </m:sSubSup>
                                  <m:sSub>
                                    <m:sSubPr>
                                      <m:ctrlPr>
                                        <a:rPr lang="en-US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0" smtClean="0">
                                          <a:latin typeface="Cambria Math" panose="02040503050406030204" pitchFamily="18" charset="0"/>
                                        </a:rPr>
                                        <m:t>𝐱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b>
                                  </m:sSub>
                                </m:e>
                              </m:fun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O</a:t>
                </a:r>
                <a:r>
                  <a:rPr lang="en-SG" dirty="0"/>
                  <a:t>r in matrix notation  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softmax</m:t>
                    </m:r>
                    <m:d>
                      <m:dPr>
                        <m:begChr m:val="["/>
                        <m:endChr m:val="]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𝐗</m:t>
                        </m:r>
                        <m:sSup>
                          <m:sSup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</m:e>
                    </m:d>
                    <m:r>
                      <a:rPr lang="en-US" b="1" i="0" smtClean="0">
                        <a:latin typeface="Cambria Math" panose="02040503050406030204" pitchFamily="18" charset="0"/>
                      </a:rPr>
                      <m:t>𝐗</m:t>
                    </m:r>
                  </m:oMath>
                </a14:m>
                <a:endParaRPr lang="en-SG" b="1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B60FA9CD-6ED8-44D4-85B7-021A455991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54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57CE7E4-EF26-4DF8-B802-2DFBCCE0ED8C}"/>
                  </a:ext>
                </a:extLst>
              </p:cNvPr>
              <p:cNvSpPr txBox="1"/>
              <p:nvPr/>
            </p:nvSpPr>
            <p:spPr>
              <a:xfrm>
                <a:off x="601394" y="1910267"/>
                <a:ext cx="222155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Each row in </a:t>
                </a:r>
                <a14:m>
                  <m:oMath xmlns:m="http://schemas.openxmlformats.org/officeDocument/2006/math">
                    <m:r>
                      <a:rPr lang="en-US" sz="1600" b="1" i="0" smtClean="0">
                        <a:latin typeface="Cambria Math" panose="02040503050406030204" pitchFamily="18" charset="0"/>
                      </a:rPr>
                      <m:t>𝐘</m:t>
                    </m:r>
                  </m:oMath>
                </a14:m>
                <a:r>
                  <a:rPr lang="en-US" sz="1600" dirty="0"/>
                  <a:t> is a weighted average of the rows of </a:t>
                </a:r>
                <a14:m>
                  <m:oMath xmlns:m="http://schemas.openxmlformats.org/officeDocument/2006/math">
                    <m:r>
                      <a:rPr lang="en-US" sz="1600" b="1" i="0" smtClean="0">
                        <a:latin typeface="Cambria Math" panose="02040503050406030204" pitchFamily="18" charset="0"/>
                      </a:rPr>
                      <m:t>𝐗</m:t>
                    </m:r>
                  </m:oMath>
                </a14:m>
                <a:endParaRPr lang="en-SG" sz="1600" b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57CE7E4-EF26-4DF8-B802-2DFBCCE0ED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394" y="1910267"/>
                <a:ext cx="2221554" cy="830997"/>
              </a:xfrm>
              <a:prstGeom prst="rect">
                <a:avLst/>
              </a:prstGeom>
              <a:blipFill>
                <a:blip r:embed="rId4"/>
                <a:stretch>
                  <a:fillRect l="-1648" t="-2190" b="-8029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36AEE6F-60B9-4E14-A43E-8BC1BBF8DC14}"/>
                  </a:ext>
                </a:extLst>
              </p:cNvPr>
              <p:cNvSpPr txBox="1"/>
              <p:nvPr/>
            </p:nvSpPr>
            <p:spPr>
              <a:xfrm>
                <a:off x="7617656" y="4543864"/>
                <a:ext cx="1420837" cy="6155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correlation matrix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SG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36AEE6F-60B9-4E14-A43E-8BC1BBF8DC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7656" y="4543864"/>
                <a:ext cx="1420837" cy="615553"/>
              </a:xfrm>
              <a:prstGeom prst="rect">
                <a:avLst/>
              </a:prstGeom>
              <a:blipFill>
                <a:blip r:embed="rId5"/>
                <a:stretch>
                  <a:fillRect l="-2575" t="-2970" b="-1089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F539A15-566B-4CC6-B465-54628FA9AABE}"/>
              </a:ext>
            </a:extLst>
          </p:cNvPr>
          <p:cNvCxnSpPr/>
          <p:nvPr/>
        </p:nvCxnSpPr>
        <p:spPr>
          <a:xfrm flipH="1">
            <a:off x="7160455" y="4965895"/>
            <a:ext cx="464234" cy="478302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8C1E284-9DE1-4E62-80D2-1FC84361E6EE}"/>
                  </a:ext>
                </a:extLst>
              </p:cNvPr>
              <p:cNvSpPr txBox="1"/>
              <p:nvPr/>
            </p:nvSpPr>
            <p:spPr>
              <a:xfrm>
                <a:off x="6706772" y="3009775"/>
                <a:ext cx="1835834" cy="9727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𝐱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𝐱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sub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8C1E284-9DE1-4E62-80D2-1FC84361E6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6772" y="3009775"/>
                <a:ext cx="1835834" cy="97270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54686D7-7F9A-6498-98E3-3C0042F2486B}"/>
                  </a:ext>
                </a:extLst>
              </p:cNvPr>
              <p:cNvSpPr txBox="1"/>
              <p:nvPr/>
            </p:nvSpPr>
            <p:spPr>
              <a:xfrm>
                <a:off x="6708393" y="696226"/>
                <a:ext cx="1835834" cy="9727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𝐲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𝐲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sub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54686D7-7F9A-6498-98E3-3C0042F248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8393" y="696226"/>
                <a:ext cx="1835834" cy="97270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84080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76B81F-3B21-4600-9319-1580D1FD1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EA5FB4-A96E-44D0-948C-D8CF9EB008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8468" y="1751098"/>
                <a:ext cx="6558959" cy="2085193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Replace the three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𝐗</m:t>
                    </m:r>
                  </m:oMath>
                </a14:m>
                <a:r>
                  <a:rPr lang="en-SG" dirty="0"/>
                  <a:t>s by separate linear transforms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𝐗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𝐊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𝐗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𝐕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𝐗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b="0" dirty="0"/>
              </a:p>
              <a:p>
                <a:endParaRPr lang="en-SG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EA5FB4-A96E-44D0-948C-D8CF9EB008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8468" y="1751098"/>
                <a:ext cx="6558959" cy="2085193"/>
              </a:xfrm>
              <a:blipFill>
                <a:blip r:embed="rId3"/>
                <a:stretch>
                  <a:fillRect l="-1673" t="-5263" r="-93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018C6B07-7628-4964-9C1D-0CE6DBDAC1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4194620"/>
            <a:ext cx="3179298" cy="21479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17B012-5923-4582-88DC-6C29BCAA79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3945" y="4587360"/>
            <a:ext cx="2855742" cy="11900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3641E5F-B20A-4F1E-BBBB-094D51A30AF3}"/>
              </a:ext>
            </a:extLst>
          </p:cNvPr>
          <p:cNvSpPr txBox="1"/>
          <p:nvPr/>
        </p:nvSpPr>
        <p:spPr>
          <a:xfrm>
            <a:off x="3650566" y="6260123"/>
            <a:ext cx="54934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Figs 12.4, 12.5 from Bishop, “Deep Learning”</a:t>
            </a:r>
            <a:endParaRPr lang="en-SG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466F47BB-40B6-4CDD-A4AB-D63922822EC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92147" y="3206908"/>
                <a:ext cx="4569081" cy="125876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Verdana" panose="020B0604030504040204" pitchFamily="34" charset="0"/>
                    <a:ea typeface="Verdana" panose="020B0604030504040204" pitchFamily="34" charset="0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Verdana" panose="020B0604030504040204" pitchFamily="34" charset="0"/>
                    <a:ea typeface="Verdana" panose="020B0604030504040204" pitchFamily="34" charset="0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Verdana" panose="020B0604030504040204" pitchFamily="34" charset="0"/>
                    <a:ea typeface="Verdana" panose="020B0604030504040204" pitchFamily="34" charset="0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Verdana" panose="020B0604030504040204" pitchFamily="34" charset="0"/>
                    <a:ea typeface="Verdana" panose="020B0604030504040204" pitchFamily="34" charset="0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Verdana" panose="020B0604030504040204" pitchFamily="34" charset="0"/>
                    <a:ea typeface="Verdana" panose="020B0604030504040204" pitchFamily="34" charset="0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smtClean="0">
                          <a:latin typeface="Cambria Math" panose="02040503050406030204" pitchFamily="18" charset="0"/>
                        </a:rPr>
                        <m:t>𝐘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mtClean="0">
                          <a:latin typeface="Cambria Math" panose="02040503050406030204" pitchFamily="18" charset="0"/>
                        </a:rPr>
                        <m:t>Softmax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smtClean="0">
                              <a:latin typeface="Cambria Math" panose="02040503050406030204" pitchFamily="18" charset="0"/>
                            </a:rPr>
                            <m:t>𝐐</m:t>
                          </m:r>
                          <m:sSup>
                            <m:sSup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smtClean="0">
                                  <a:latin typeface="Cambria Math" panose="02040503050406030204" pitchFamily="18" charset="0"/>
                                </a:rPr>
                                <m:t>𝐊</m:t>
                              </m:r>
                            </m:e>
                            <m:sup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b="1" smtClean="0">
                          <a:latin typeface="Cambria Math" panose="02040503050406030204" pitchFamily="18" charset="0"/>
                        </a:rPr>
                        <m:t>𝐕</m:t>
                      </m:r>
                    </m:oMath>
                  </m:oMathPara>
                </a14:m>
                <a:endParaRPr lang="en-SG" b="1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466F47BB-40B6-4CDD-A4AB-D63922822E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2147" y="3206908"/>
                <a:ext cx="4569081" cy="125876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B3BF0B7-14FB-4ABE-88AC-7F2CC379B2D6}"/>
                  </a:ext>
                </a:extLst>
              </p:cNvPr>
              <p:cNvSpPr txBox="1"/>
              <p:nvPr/>
            </p:nvSpPr>
            <p:spPr>
              <a:xfrm>
                <a:off x="6018027" y="484859"/>
                <a:ext cx="1616149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𝐐</m:t>
                    </m:r>
                  </m:oMath>
                </a14:m>
                <a:r>
                  <a:rPr lang="en-US" dirty="0"/>
                  <a:t>: query</a:t>
                </a:r>
              </a:p>
              <a:p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𝐊</m:t>
                    </m:r>
                  </m:oMath>
                </a14:m>
                <a:r>
                  <a:rPr lang="en-US" dirty="0"/>
                  <a:t>: key </a:t>
                </a:r>
              </a:p>
              <a:p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𝐕</m:t>
                    </m:r>
                  </m:oMath>
                </a14:m>
                <a:r>
                  <a:rPr lang="en-US" dirty="0"/>
                  <a:t>: value </a:t>
                </a:r>
                <a:endParaRPr lang="en-SG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B3BF0B7-14FB-4ABE-88AC-7F2CC379B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8027" y="484859"/>
                <a:ext cx="1616149" cy="923330"/>
              </a:xfrm>
              <a:prstGeom prst="rect">
                <a:avLst/>
              </a:prstGeom>
              <a:blipFill>
                <a:blip r:embed="rId7"/>
                <a:stretch>
                  <a:fillRect l="-755" t="-3974" b="-9934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EBB85926-7F3E-4F11-925E-3C9729074BD1}"/>
              </a:ext>
            </a:extLst>
          </p:cNvPr>
          <p:cNvSpPr txBox="1"/>
          <p:nvPr/>
        </p:nvSpPr>
        <p:spPr>
          <a:xfrm>
            <a:off x="6712688" y="2452577"/>
            <a:ext cx="19028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Softmax</a:t>
            </a:r>
            <a:r>
              <a:rPr lang="en-US" dirty="0"/>
              <a:t> along row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1648044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3C068-4A9C-4376-BE81-51A8BE8C8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Scaled dot-product self-attention 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676297-B945-46FE-800C-20679B8D83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674" y="1961965"/>
            <a:ext cx="6963508" cy="328429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F9E1CF-AA5F-4629-99C6-57978AEB8737}"/>
              </a:ext>
            </a:extLst>
          </p:cNvPr>
          <p:cNvSpPr txBox="1"/>
          <p:nvPr/>
        </p:nvSpPr>
        <p:spPr>
          <a:xfrm>
            <a:off x="7913077" y="1961965"/>
            <a:ext cx="10621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Bishop, page 367.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0375626-EA95-4134-945B-47A99D4927D9}"/>
                  </a:ext>
                </a:extLst>
              </p:cNvPr>
              <p:cNvSpPr txBox="1"/>
              <p:nvPr/>
            </p:nvSpPr>
            <p:spPr>
              <a:xfrm>
                <a:off x="628650" y="5577840"/>
                <a:ext cx="5465298" cy="4277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Why do we need to scale by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</m:e>
                    </m:rad>
                  </m:oMath>
                </a14:m>
                <a:r>
                  <a:rPr lang="en-SG" dirty="0"/>
                  <a:t> ?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0375626-EA95-4134-945B-47A99D4927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5577840"/>
                <a:ext cx="5465298" cy="427746"/>
              </a:xfrm>
              <a:prstGeom prst="rect">
                <a:avLst/>
              </a:prstGeom>
              <a:blipFill>
                <a:blip r:embed="rId3"/>
                <a:stretch>
                  <a:fillRect l="-892" b="-15714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23438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6EBB8-4E8A-4170-9167-9E3863D8F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Multi-head attention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6C232A-3C99-4E56-BC14-AED9505F25D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2134430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Atention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SG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=1,⋯,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endParaRPr lang="en-SG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𝐗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𝐗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𝐗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</m:oMath>
                </a14:m>
                <a:endParaRPr lang="en-SG" dirty="0"/>
              </a:p>
              <a:p>
                <a:pPr marL="0" indent="0">
                  <a:buNone/>
                </a:pPr>
                <a:endParaRPr lang="en-US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𝒀</m:t>
                      </m:r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𝐜𝐨𝐧𝐜𝐚𝐭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0" smtClean="0">
                                  <a:latin typeface="Cambria Math" panose="02040503050406030204" pitchFamily="18" charset="0"/>
                                </a:rPr>
                                <m:t>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,⋯, </m:t>
                          </m:r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0" smtClean="0">
                                  <a:latin typeface="Cambria Math" panose="02040503050406030204" pitchFamily="18" charset="0"/>
                                </a:rPr>
                                <m:t>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6C232A-3C99-4E56-BC14-AED9505F25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2134430"/>
              </a:xfrm>
              <a:blipFill>
                <a:blip r:embed="rId2"/>
                <a:stretch>
                  <a:fillRect t="-5128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2BCEE09C-1F68-4718-A275-3C894241B4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1262" y="4141053"/>
            <a:ext cx="4797083" cy="25952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3679389-C26B-4716-BCD0-CB2DFC5A7309}"/>
                  </a:ext>
                </a:extLst>
              </p:cNvPr>
              <p:cNvSpPr txBox="1"/>
              <p:nvPr/>
            </p:nvSpPr>
            <p:spPr>
              <a:xfrm>
                <a:off x="7033846" y="4821757"/>
                <a:ext cx="126609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3679389-C26B-4716-BCD0-CB2DFC5A73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3846" y="4821757"/>
                <a:ext cx="1266093" cy="369332"/>
              </a:xfrm>
              <a:prstGeom prst="rect">
                <a:avLst/>
              </a:prstGeom>
              <a:blipFill>
                <a:blip r:embed="rId4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57640F9-B599-48F5-B718-1E9B91A85C9D}"/>
                  </a:ext>
                </a:extLst>
              </p:cNvPr>
              <p:cNvSpPr txBox="1"/>
              <p:nvPr/>
            </p:nvSpPr>
            <p:spPr>
              <a:xfrm>
                <a:off x="7508631" y="2231120"/>
                <a:ext cx="1582616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SG" sz="1600" dirty="0"/>
                  <a:t> matrices are sliced into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SG" sz="1600" dirty="0"/>
                  <a:t> parts in the feature direction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57640F9-B599-48F5-B718-1E9B91A85C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8631" y="2231120"/>
                <a:ext cx="1582616" cy="1323439"/>
              </a:xfrm>
              <a:prstGeom prst="rect">
                <a:avLst/>
              </a:prstGeom>
              <a:blipFill>
                <a:blip r:embed="rId5"/>
                <a:stretch>
                  <a:fillRect l="-2317" t="-1382" r="-1544" b="-5069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616123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1E29A-4436-4E7C-BBAD-C1F72EFBC7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737" y="273686"/>
            <a:ext cx="7886700" cy="1325563"/>
          </a:xfrm>
        </p:spPr>
        <p:txBody>
          <a:bodyPr/>
          <a:lstStyle/>
          <a:p>
            <a:r>
              <a:rPr lang="en-US" dirty="0"/>
              <a:t>Add &amp; norm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5E9DA8-471C-48A1-A107-6AF7DCD0A4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49" y="1825625"/>
                <a:ext cx="5144137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Multilayer perceptron: 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M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LP</m:t>
                      </m:r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0" smtClean="0">
                                  <a:latin typeface="Cambria Math" panose="02040503050406030204" pitchFamily="18" charset="0"/>
                                </a:rPr>
                                <m:t>𝐳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0,</m:t>
                              </m:r>
                              <m:sSub>
                                <m:sSub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0" smtClean="0">
                                          <a:latin typeface="Cambria Math" panose="02040503050406030204" pitchFamily="18" charset="0"/>
                                        </a:rPr>
                                        <m:t>𝐳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func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LayerNorm</m:t>
                    </m:r>
                    <m:d>
                      <m:dPr>
                        <m:begChr m:val="["/>
                        <m:endChr m:val="]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𝐘</m:t>
                        </m:r>
                        <m:d>
                          <m:d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</m:d>
                  </m:oMath>
                </a14:m>
                <a:endParaRPr lang="en-US" b="0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LayerNorm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MLP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5E9DA8-471C-48A1-A107-6AF7DCD0A4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49" y="1825625"/>
                <a:ext cx="5144137" cy="4351338"/>
              </a:xfrm>
              <a:blipFill>
                <a:blip r:embed="rId3"/>
                <a:stretch>
                  <a:fillRect l="-2133" t="-252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8599145F-2895-4EFE-89EB-1F17563B38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2787" y="524107"/>
            <a:ext cx="2564887" cy="57993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E1A830B-E826-4BCA-8A05-EA9C01AAB923}"/>
                  </a:ext>
                </a:extLst>
              </p:cNvPr>
              <p:cNvSpPr txBox="1"/>
              <p:nvPr/>
            </p:nvSpPr>
            <p:spPr>
              <a:xfrm>
                <a:off x="6492240" y="3988189"/>
                <a:ext cx="26728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𝐘</m:t>
                      </m:r>
                    </m:oMath>
                  </m:oMathPara>
                </a14:m>
                <a:endParaRPr lang="en-SG" b="1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E1A830B-E826-4BCA-8A05-EA9C01AAB9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2240" y="3988189"/>
                <a:ext cx="267286" cy="369332"/>
              </a:xfrm>
              <a:prstGeom prst="rect">
                <a:avLst/>
              </a:prstGeom>
              <a:blipFill>
                <a:blip r:embed="rId5"/>
                <a:stretch>
                  <a:fillRect r="-15909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DAA70AF5-2810-4F75-A33C-A6B5FABB6580}"/>
              </a:ext>
            </a:extLst>
          </p:cNvPr>
          <p:cNvSpPr txBox="1"/>
          <p:nvPr/>
        </p:nvSpPr>
        <p:spPr>
          <a:xfrm>
            <a:off x="1069144" y="6267157"/>
            <a:ext cx="28065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What is </a:t>
            </a:r>
            <a:r>
              <a:rPr lang="en-US" dirty="0" err="1"/>
              <a:t>LayerNorm</a:t>
            </a:r>
            <a:r>
              <a:rPr lang="en-US" dirty="0"/>
              <a:t>?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1916052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72602F-136C-4BB8-9956-3F5D9CB7C3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4637" y="3016252"/>
            <a:ext cx="5105400" cy="37652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5E10BA-19CA-4D7A-9190-F6AE4C521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Position encoding 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4E2DCC-FEDD-4D28-B425-BDEDEC9278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00050" y="1690689"/>
                <a:ext cx="4102677" cy="2431038"/>
              </a:xfrm>
            </p:spPr>
            <p:txBody>
              <a:bodyPr>
                <a:normAutofit fontScale="85000" lnSpcReduction="1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𝐫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SG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𝐿</m:t>
                                              </m:r>
                                            </m:e>
                                            <m:sup>
                                              <m:f>
                                                <m:fPr>
                                                  <m:ctrlP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𝐷</m:t>
                                                  </m:r>
                                                </m:den>
                                              </m:f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  <m:brk m:alnAt="7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  <m:brk m:alnAt="7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even</m:t>
                              </m:r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</m:e>
                          </m:mr>
                          <m:mr>
                            <m:e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𝐿</m:t>
                                              </m:r>
                                            </m:e>
                                            <m:sup>
                                              <m:f>
                                                <m:fPr>
                                                  <m:ctrlP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  <m: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−1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  <m:t>𝐷</m:t>
                                                  </m:r>
                                                </m:den>
                                              </m:f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odd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4E2DCC-FEDD-4D28-B425-BDEDEC9278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0050" y="1690689"/>
                <a:ext cx="4102677" cy="2431038"/>
              </a:xfrm>
              <a:blipFill>
                <a:blip r:embed="rId3"/>
                <a:stretch>
                  <a:fillRect l="-2080" t="-225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FB45BEF-F270-4700-8DED-9A9B83FD8F83}"/>
                  </a:ext>
                </a:extLst>
              </p:cNvPr>
              <p:cNvSpPr txBox="1"/>
              <p:nvPr/>
            </p:nvSpPr>
            <p:spPr>
              <a:xfrm>
                <a:off x="720435" y="4655127"/>
                <a:ext cx="2847109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SG" dirty="0"/>
                  <a:t>: token sequence position.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SG" dirty="0"/>
                  <a:t>: embedding space index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FB45BEF-F270-4700-8DED-9A9B83FD8F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435" y="4655127"/>
                <a:ext cx="2847109" cy="1477328"/>
              </a:xfrm>
              <a:prstGeom prst="rect">
                <a:avLst/>
              </a:prstGeom>
              <a:blipFill>
                <a:blip r:embed="rId4"/>
                <a:stretch>
                  <a:fillRect l="-1713" t="-2479" b="-5785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384A6A62-CEE9-4936-8862-BA77DD465459}"/>
              </a:ext>
            </a:extLst>
          </p:cNvPr>
          <p:cNvSpPr txBox="1"/>
          <p:nvPr/>
        </p:nvSpPr>
        <p:spPr>
          <a:xfrm>
            <a:off x="6573981" y="1371600"/>
            <a:ext cx="225136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Fig.12.10, page 373 of Bishop, “Deep learning.”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339E7F7-860F-4200-9324-E3FE58EB7628}"/>
                  </a:ext>
                </a:extLst>
              </p:cNvPr>
              <p:cNvSpPr txBox="1"/>
              <p:nvPr/>
            </p:nvSpPr>
            <p:spPr>
              <a:xfrm>
                <a:off x="7994072" y="6366162"/>
                <a:ext cx="35502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SG" sz="1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339E7F7-860F-4200-9324-E3FE58EB76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4072" y="6366162"/>
                <a:ext cx="355023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5C77516-F791-4F6C-AC11-5B0BBD27710C}"/>
                  </a:ext>
                </a:extLst>
              </p:cNvPr>
              <p:cNvSpPr txBox="1"/>
              <p:nvPr/>
            </p:nvSpPr>
            <p:spPr>
              <a:xfrm rot="16200000">
                <a:off x="6303819" y="4184073"/>
                <a:ext cx="27709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SG" sz="1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5C77516-F791-4F6C-AC11-5B0BBD2771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303819" y="4184073"/>
                <a:ext cx="277091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70164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7092B2DC-6EFA-4E63-9366-2752DD799D82}"/>
              </a:ext>
            </a:extLst>
          </p:cNvPr>
          <p:cNvSpPr/>
          <p:nvPr/>
        </p:nvSpPr>
        <p:spPr>
          <a:xfrm>
            <a:off x="8007926" y="4168189"/>
            <a:ext cx="346361" cy="37772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0429697-CD6B-4BFA-BE76-6462DA879F3D}"/>
              </a:ext>
            </a:extLst>
          </p:cNvPr>
          <p:cNvSpPr/>
          <p:nvPr/>
        </p:nvSpPr>
        <p:spPr>
          <a:xfrm>
            <a:off x="7647707" y="3798601"/>
            <a:ext cx="706582" cy="36958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727A946-8EF7-4552-A0A6-174CD2156274}"/>
              </a:ext>
            </a:extLst>
          </p:cNvPr>
          <p:cNvSpPr/>
          <p:nvPr/>
        </p:nvSpPr>
        <p:spPr>
          <a:xfrm>
            <a:off x="7287491" y="3459163"/>
            <a:ext cx="1059870" cy="32802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ED4CFAE-6522-4176-AE8D-B7459644520C}"/>
              </a:ext>
            </a:extLst>
          </p:cNvPr>
          <p:cNvSpPr/>
          <p:nvPr/>
        </p:nvSpPr>
        <p:spPr>
          <a:xfrm>
            <a:off x="6934199" y="3126653"/>
            <a:ext cx="1427016" cy="321103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E556BD-2506-4499-B295-5A1AA2E87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translation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6D93FF0-741D-4B99-84A5-2414C82618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3918" y="1690689"/>
            <a:ext cx="3368817" cy="489065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312EB53-2E94-4658-A2E6-414E82D92F7E}"/>
              </a:ext>
            </a:extLst>
          </p:cNvPr>
          <p:cNvSpPr txBox="1"/>
          <p:nvPr/>
        </p:nvSpPr>
        <p:spPr>
          <a:xfrm>
            <a:off x="706582" y="1690689"/>
            <a:ext cx="23899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arXiv:1706.03762, </a:t>
            </a:r>
          </a:p>
          <a:p>
            <a:r>
              <a:rPr lang="en-US" dirty="0"/>
              <a:t>Vaswani, et al.</a:t>
            </a:r>
            <a:endParaRPr lang="en-S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97E1E9-E228-4A2E-9B8A-CC137F46D3A9}"/>
                  </a:ext>
                </a:extLst>
              </p:cNvPr>
              <p:cNvSpPr txBox="1"/>
              <p:nvPr/>
            </p:nvSpPr>
            <p:spPr>
              <a:xfrm>
                <a:off x="1336857" y="3535852"/>
                <a:ext cx="1129358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=6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=512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=8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97E1E9-E228-4A2E-9B8A-CC137F46D3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6857" y="3535852"/>
                <a:ext cx="1129358" cy="9233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EF7B73B7-5FBC-4ADD-9669-68734DC33A58}"/>
              </a:ext>
            </a:extLst>
          </p:cNvPr>
          <p:cNvSpPr txBox="1"/>
          <p:nvPr/>
        </p:nvSpPr>
        <p:spPr>
          <a:xfrm>
            <a:off x="471053" y="6396678"/>
            <a:ext cx="3643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“&lt;start&gt; I like to run &lt;end&gt;”</a:t>
            </a:r>
            <a:endParaRPr lang="en-SG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CC1791-F392-42F5-B24C-720431AE0DBE}"/>
              </a:ext>
            </a:extLst>
          </p:cNvPr>
          <p:cNvSpPr txBox="1"/>
          <p:nvPr/>
        </p:nvSpPr>
        <p:spPr>
          <a:xfrm>
            <a:off x="5555672" y="6025897"/>
            <a:ext cx="28471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“&lt;start&gt; Ich </a:t>
            </a:r>
            <a:r>
              <a:rPr lang="en-US" dirty="0" err="1"/>
              <a:t>gehe</a:t>
            </a:r>
            <a:r>
              <a:rPr lang="en-US" dirty="0"/>
              <a:t> </a:t>
            </a:r>
            <a:r>
              <a:rPr lang="en-US" dirty="0" err="1"/>
              <a:t>gerne</a:t>
            </a:r>
            <a:r>
              <a:rPr lang="en-US" dirty="0"/>
              <a:t> </a:t>
            </a:r>
            <a:r>
              <a:rPr lang="en-US" dirty="0" err="1"/>
              <a:t>joggen</a:t>
            </a:r>
            <a:r>
              <a:rPr lang="en-US" dirty="0"/>
              <a:t> &lt;end&gt;”</a:t>
            </a:r>
            <a:endParaRPr lang="en-S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C8CBCE-699A-4139-8F47-B69CB1B00844}"/>
              </a:ext>
            </a:extLst>
          </p:cNvPr>
          <p:cNvSpPr txBox="1"/>
          <p:nvPr/>
        </p:nvSpPr>
        <p:spPr>
          <a:xfrm>
            <a:off x="6255326" y="1967346"/>
            <a:ext cx="19344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masked attention</a:t>
            </a:r>
            <a:endParaRPr lang="en-SG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3673287-EB6D-4B66-A4E4-E559DD0DC7E3}"/>
              </a:ext>
            </a:extLst>
          </p:cNvPr>
          <p:cNvCxnSpPr/>
          <p:nvPr/>
        </p:nvCxnSpPr>
        <p:spPr>
          <a:xfrm>
            <a:off x="6580909" y="3126654"/>
            <a:ext cx="0" cy="18124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4EEF643-9EC8-4390-9EEC-ADA0E6FD0CDF}"/>
              </a:ext>
            </a:extLst>
          </p:cNvPr>
          <p:cNvCxnSpPr/>
          <p:nvPr/>
        </p:nvCxnSpPr>
        <p:spPr>
          <a:xfrm>
            <a:off x="6934199" y="3126654"/>
            <a:ext cx="0" cy="18124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4A018C3-1C40-44FD-94F0-6EE307BA680C}"/>
              </a:ext>
            </a:extLst>
          </p:cNvPr>
          <p:cNvCxnSpPr>
            <a:cxnSpLocks/>
          </p:cNvCxnSpPr>
          <p:nvPr/>
        </p:nvCxnSpPr>
        <p:spPr>
          <a:xfrm>
            <a:off x="6580909" y="3126654"/>
            <a:ext cx="177338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B89ECD2-3B95-4D55-A7BD-6C96205B6918}"/>
              </a:ext>
            </a:extLst>
          </p:cNvPr>
          <p:cNvCxnSpPr/>
          <p:nvPr/>
        </p:nvCxnSpPr>
        <p:spPr>
          <a:xfrm>
            <a:off x="7287491" y="3126656"/>
            <a:ext cx="0" cy="18124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BB60739-5794-47C8-950C-8E5229EE1E82}"/>
              </a:ext>
            </a:extLst>
          </p:cNvPr>
          <p:cNvCxnSpPr/>
          <p:nvPr/>
        </p:nvCxnSpPr>
        <p:spPr>
          <a:xfrm>
            <a:off x="7647707" y="3126653"/>
            <a:ext cx="0" cy="18124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754C252-4359-4CD8-B2FD-8E63E3A6D55A}"/>
              </a:ext>
            </a:extLst>
          </p:cNvPr>
          <p:cNvCxnSpPr/>
          <p:nvPr/>
        </p:nvCxnSpPr>
        <p:spPr>
          <a:xfrm>
            <a:off x="8007926" y="3119727"/>
            <a:ext cx="0" cy="18124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8425333-3997-41E6-968C-717276D9E251}"/>
              </a:ext>
            </a:extLst>
          </p:cNvPr>
          <p:cNvCxnSpPr/>
          <p:nvPr/>
        </p:nvCxnSpPr>
        <p:spPr>
          <a:xfrm>
            <a:off x="8354289" y="3133584"/>
            <a:ext cx="0" cy="18124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AB82F24-8281-4A17-9E1E-01369F4572A8}"/>
              </a:ext>
            </a:extLst>
          </p:cNvPr>
          <p:cNvCxnSpPr>
            <a:cxnSpLocks/>
          </p:cNvCxnSpPr>
          <p:nvPr/>
        </p:nvCxnSpPr>
        <p:spPr>
          <a:xfrm>
            <a:off x="6587835" y="3459163"/>
            <a:ext cx="177338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C3F29E1-423D-4C70-9F64-CB4D8C7DA642}"/>
              </a:ext>
            </a:extLst>
          </p:cNvPr>
          <p:cNvCxnSpPr>
            <a:cxnSpLocks/>
          </p:cNvCxnSpPr>
          <p:nvPr/>
        </p:nvCxnSpPr>
        <p:spPr>
          <a:xfrm>
            <a:off x="6608618" y="3798601"/>
            <a:ext cx="177338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6246AFA-61C3-4A3B-8EAF-374DBB4B36E3}"/>
              </a:ext>
            </a:extLst>
          </p:cNvPr>
          <p:cNvCxnSpPr>
            <a:cxnSpLocks/>
          </p:cNvCxnSpPr>
          <p:nvPr/>
        </p:nvCxnSpPr>
        <p:spPr>
          <a:xfrm>
            <a:off x="6587837" y="4151890"/>
            <a:ext cx="177338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7096024-79A9-4E86-8AB7-C52ED9CAD13F}"/>
              </a:ext>
            </a:extLst>
          </p:cNvPr>
          <p:cNvCxnSpPr>
            <a:cxnSpLocks/>
          </p:cNvCxnSpPr>
          <p:nvPr/>
        </p:nvCxnSpPr>
        <p:spPr>
          <a:xfrm>
            <a:off x="6573981" y="4539816"/>
            <a:ext cx="177338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6E0B376-1A16-4AF1-B36D-D910F23932A4}"/>
              </a:ext>
            </a:extLst>
          </p:cNvPr>
          <p:cNvCxnSpPr>
            <a:cxnSpLocks/>
          </p:cNvCxnSpPr>
          <p:nvPr/>
        </p:nvCxnSpPr>
        <p:spPr>
          <a:xfrm>
            <a:off x="6601691" y="4920815"/>
            <a:ext cx="177338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3B28F61-7CE3-473B-9A60-86A7B06B50B4}"/>
              </a:ext>
            </a:extLst>
          </p:cNvPr>
          <p:cNvSpPr txBox="1"/>
          <p:nvPr/>
        </p:nvSpPr>
        <p:spPr>
          <a:xfrm>
            <a:off x="6435436" y="5022273"/>
            <a:ext cx="241761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&lt;start&gt; Ich </a:t>
            </a:r>
            <a:r>
              <a:rPr lang="en-US" sz="1000" dirty="0" err="1"/>
              <a:t>gehe</a:t>
            </a:r>
            <a:r>
              <a:rPr lang="en-US" sz="1000" dirty="0"/>
              <a:t> </a:t>
            </a:r>
            <a:r>
              <a:rPr lang="en-US" sz="1000" dirty="0" err="1"/>
              <a:t>gerne</a:t>
            </a:r>
            <a:r>
              <a:rPr lang="en-US" sz="1000" dirty="0"/>
              <a:t> </a:t>
            </a:r>
            <a:r>
              <a:rPr lang="en-US" sz="1000" dirty="0" err="1"/>
              <a:t>joggen</a:t>
            </a:r>
            <a:endParaRPr lang="en-SG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F167E59-06BD-4B68-8A59-07E4D4BC28CF}"/>
              </a:ext>
            </a:extLst>
          </p:cNvPr>
          <p:cNvSpPr txBox="1"/>
          <p:nvPr/>
        </p:nvSpPr>
        <p:spPr>
          <a:xfrm>
            <a:off x="5952899" y="3133584"/>
            <a:ext cx="692713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Ich</a:t>
            </a:r>
          </a:p>
          <a:p>
            <a:endParaRPr lang="en-US" sz="1000" dirty="0"/>
          </a:p>
          <a:p>
            <a:r>
              <a:rPr lang="en-US" sz="1000" dirty="0"/>
              <a:t>gerne</a:t>
            </a:r>
          </a:p>
          <a:p>
            <a:endParaRPr lang="en-US" sz="1000" dirty="0"/>
          </a:p>
          <a:p>
            <a:endParaRPr lang="en-US" sz="1000" dirty="0"/>
          </a:p>
          <a:p>
            <a:r>
              <a:rPr lang="en-US" sz="1000" dirty="0" err="1"/>
              <a:t>gerne</a:t>
            </a:r>
            <a:r>
              <a:rPr lang="en-US" sz="1000" dirty="0"/>
              <a:t> </a:t>
            </a:r>
          </a:p>
          <a:p>
            <a:endParaRPr lang="en-US" sz="1000" dirty="0"/>
          </a:p>
          <a:p>
            <a:r>
              <a:rPr lang="en-US" sz="1000" dirty="0" err="1"/>
              <a:t>Joggen</a:t>
            </a:r>
            <a:endParaRPr lang="en-US" sz="1000" dirty="0"/>
          </a:p>
          <a:p>
            <a:endParaRPr lang="en-US" sz="1000" dirty="0"/>
          </a:p>
          <a:p>
            <a:endParaRPr lang="en-US" sz="1000" dirty="0"/>
          </a:p>
          <a:p>
            <a:r>
              <a:rPr lang="en-US" sz="1000" dirty="0"/>
              <a:t>&lt;end&gt;</a:t>
            </a:r>
            <a:endParaRPr lang="en-SG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F9BD514-D8C8-446D-A78A-8686247BC61F}"/>
              </a:ext>
            </a:extLst>
          </p:cNvPr>
          <p:cNvSpPr txBox="1"/>
          <p:nvPr/>
        </p:nvSpPr>
        <p:spPr>
          <a:xfrm>
            <a:off x="7142017" y="5375562"/>
            <a:ext cx="1039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inputs</a:t>
            </a:r>
            <a:endParaRPr lang="en-SG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B7E147D-2DD1-4BCF-979B-9FC22498FBA2}"/>
              </a:ext>
            </a:extLst>
          </p:cNvPr>
          <p:cNvSpPr txBox="1"/>
          <p:nvPr/>
        </p:nvSpPr>
        <p:spPr>
          <a:xfrm rot="16200000">
            <a:off x="5173580" y="3773259"/>
            <a:ext cx="11637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outputs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B3B22FE-277B-45BB-BBC8-19738EFCE596}"/>
                  </a:ext>
                </a:extLst>
              </p:cNvPr>
              <p:cNvSpPr txBox="1"/>
              <p:nvPr/>
            </p:nvSpPr>
            <p:spPr>
              <a:xfrm>
                <a:off x="3248892" y="3006437"/>
                <a:ext cx="33250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B3B22FE-277B-45BB-BBC8-19738EFCE5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8892" y="3006437"/>
                <a:ext cx="33250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79F1BD9-C933-470F-973A-A675847F4CCD}"/>
                  </a:ext>
                </a:extLst>
              </p:cNvPr>
              <p:cNvSpPr txBox="1"/>
              <p:nvPr/>
            </p:nvSpPr>
            <p:spPr>
              <a:xfrm>
                <a:off x="4107178" y="4046756"/>
                <a:ext cx="47709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sz="1100" b="0" i="1" smtClean="0">
                          <a:latin typeface="Cambria Math" panose="02040503050406030204" pitchFamily="18" charset="0"/>
                        </a:rPr>
                        <m:t>    </m:t>
                      </m:r>
                      <m:r>
                        <a:rPr lang="en-US" sz="11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SG" sz="11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79F1BD9-C933-470F-973A-A675847F4C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7178" y="4046756"/>
                <a:ext cx="477098" cy="2616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9407877-0A07-44D7-90AC-52C5E1F284D6}"/>
                  </a:ext>
                </a:extLst>
              </p:cNvPr>
              <p:cNvSpPr txBox="1"/>
              <p:nvPr/>
            </p:nvSpPr>
            <p:spPr>
              <a:xfrm>
                <a:off x="4689772" y="3934691"/>
                <a:ext cx="56110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SG" sz="11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9407877-0A07-44D7-90AC-52C5E1F284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9772" y="3934691"/>
                <a:ext cx="561109" cy="261610"/>
              </a:xfrm>
              <a:prstGeom prst="rect">
                <a:avLst/>
              </a:prstGeom>
              <a:blipFill>
                <a:blip r:embed="rId6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15421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49B03-91BC-7051-74B1-C9D7E2323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Pytorch</a:t>
            </a:r>
            <a:r>
              <a:rPr lang="en-US" dirty="0"/>
              <a:t> transformer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019E79-3305-A09A-D44F-F160F17795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torch.nn.Transformer</a:t>
            </a:r>
            <a:r>
              <a:rPr lang="en-US" dirty="0"/>
              <a:t> – “Attention is All You Need.” version</a:t>
            </a:r>
          </a:p>
          <a:p>
            <a:endParaRPr lang="en-US" dirty="0"/>
          </a:p>
          <a:p>
            <a:r>
              <a:rPr lang="en-SG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class </a:t>
            </a:r>
            <a:r>
              <a:rPr lang="en-SG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torch.nn.Transformer</a:t>
            </a: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SG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d_model</a:t>
            </a:r>
            <a:r>
              <a:rPr lang="en-SG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=512</a:t>
            </a: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SG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nhead</a:t>
            </a:r>
            <a:r>
              <a:rPr lang="en-SG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=8</a:t>
            </a: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SG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num_encoder_layers</a:t>
            </a:r>
            <a:r>
              <a:rPr lang="en-SG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=6</a:t>
            </a: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SG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num_decoder_layers</a:t>
            </a:r>
            <a:r>
              <a:rPr lang="en-SG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=6</a:t>
            </a: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SG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dim_feedforward</a:t>
            </a:r>
            <a:r>
              <a:rPr lang="en-SG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=2048</a:t>
            </a: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SG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dropout=0.1</a:t>
            </a: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SG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activation=&lt;function </a:t>
            </a:r>
            <a:r>
              <a:rPr lang="en-SG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relu</a:t>
            </a:r>
            <a:r>
              <a:rPr lang="en-SG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SG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custom_encoder</a:t>
            </a:r>
            <a:r>
              <a:rPr lang="en-SG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=None</a:t>
            </a: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SG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custom_decoder</a:t>
            </a:r>
            <a:r>
              <a:rPr lang="en-SG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=None</a:t>
            </a: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SG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layer_norm_eps</a:t>
            </a:r>
            <a:r>
              <a:rPr lang="en-SG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=1e-05</a:t>
            </a: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SG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batch_first</a:t>
            </a:r>
            <a:r>
              <a:rPr lang="en-SG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=False</a:t>
            </a: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SG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norm_first</a:t>
            </a:r>
            <a:r>
              <a:rPr lang="en-SG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=False</a:t>
            </a: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SG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bias=True</a:t>
            </a: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SG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device=None</a:t>
            </a: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SG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dtype</a:t>
            </a:r>
            <a:r>
              <a:rPr lang="en-SG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=None</a:t>
            </a: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55367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5958C-DF90-4EC6-B584-D6B6ED198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GPT (generative pretrained transformer)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D3E0A3C-0B14-46BF-8545-5E1BC5983B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989607"/>
            <a:ext cx="6338454" cy="450326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B54B71E-64B7-4CC0-BD4F-6F5F939880FC}"/>
              </a:ext>
            </a:extLst>
          </p:cNvPr>
          <p:cNvSpPr txBox="1"/>
          <p:nvPr/>
        </p:nvSpPr>
        <p:spPr>
          <a:xfrm>
            <a:off x="7273636" y="6040582"/>
            <a:ext cx="14685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12.15, Bishop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D6E4B5B-9516-4E9A-8264-3706AE9892EA}"/>
                  </a:ext>
                </a:extLst>
              </p:cNvPr>
              <p:cNvSpPr txBox="1"/>
              <p:nvPr/>
            </p:nvSpPr>
            <p:spPr>
              <a:xfrm>
                <a:off x="6731577" y="1996534"/>
                <a:ext cx="1643496" cy="6948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Softmax</m:t>
                      </m:r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̃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1" i="0" smtClean="0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</m:e>
                          </m:acc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D6E4B5B-9516-4E9A-8264-3706AE9892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1577" y="1996534"/>
                <a:ext cx="1643496" cy="694806"/>
              </a:xfrm>
              <a:prstGeom prst="rect">
                <a:avLst/>
              </a:prstGeom>
              <a:blipFill>
                <a:blip r:embed="rId3"/>
                <a:stretch>
                  <a:fillRect r="-18148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D9DB7C6-C109-44CB-B9B2-EFA7A5F40352}"/>
                  </a:ext>
                </a:extLst>
              </p:cNvPr>
              <p:cNvSpPr txBox="1"/>
              <p:nvPr/>
            </p:nvSpPr>
            <p:spPr>
              <a:xfrm>
                <a:off x="7273636" y="3070985"/>
                <a:ext cx="1548247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GPT 3 (around year 2020), total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1.75×</m:t>
                    </m:r>
                    <m:sSup>
                      <m:sSup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11</m:t>
                        </m:r>
                      </m:sup>
                    </m:sSup>
                  </m:oMath>
                </a14:m>
                <a:r>
                  <a:rPr lang="en-US" sz="1400" dirty="0"/>
                  <a:t> parameters.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=96</m:t>
                    </m:r>
                  </m:oMath>
                </a14:m>
                <a:r>
                  <a:rPr lang="en-SG" sz="1400" dirty="0"/>
                  <a:t>,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=12,288</m:t>
                    </m:r>
                  </m:oMath>
                </a14:m>
                <a:r>
                  <a:rPr lang="en-SG" sz="1400" dirty="0"/>
                  <a:t>,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=96</m:t>
                    </m:r>
                  </m:oMath>
                </a14:m>
                <a:r>
                  <a:rPr lang="en-SG" sz="1400" dirty="0"/>
                  <a:t>, feedforward layer </a:t>
                </a:r>
                <a14:m>
                  <m:oMath xmlns:m="http://schemas.openxmlformats.org/officeDocument/2006/math"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SG" sz="1400" dirty="0"/>
                  <a:t>.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=2048.</m:t>
                    </m:r>
                  </m:oMath>
                </a14:m>
                <a:endParaRPr lang="en-SG" sz="1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D9DB7C6-C109-44CB-B9B2-EFA7A5F403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3636" y="3070985"/>
                <a:ext cx="1548247" cy="2031325"/>
              </a:xfrm>
              <a:prstGeom prst="rect">
                <a:avLst/>
              </a:prstGeom>
              <a:blipFill>
                <a:blip r:embed="rId4"/>
                <a:stretch>
                  <a:fillRect l="-1181" t="-601" r="-78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88255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A890C26-6B09-44C8-B738-82E3A5CC9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121" y="1900645"/>
            <a:ext cx="3788229" cy="378822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DAF497F-B4B1-4753-88DD-04568D434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Alpha-Fold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1F8B85-C139-4C1A-9DA2-EC448C0EF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3838847" cy="466724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AlphaFold is an artificial intelligence (AI) software developed by a team at Google DeepMind led by Demis Hassabis and John Jumper, who were awarded the Nobel Prize in Chemistry in 2024 for their work on protein structure prediction.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2254450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20098-34EE-D037-372F-62DAD1C02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DNA, mRNA, and protein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8DAFC4-3174-0936-FF54-17FD22A3DA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969" y="1654342"/>
            <a:ext cx="4603303" cy="32530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3084C47-E938-AC4D-5EE9-765ACFBF0E3A}"/>
              </a:ext>
            </a:extLst>
          </p:cNvPr>
          <p:cNvSpPr txBox="1"/>
          <p:nvPr/>
        </p:nvSpPr>
        <p:spPr>
          <a:xfrm>
            <a:off x="844510" y="4815161"/>
            <a:ext cx="35134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https://www.azolifesciences.com/article/A-Guide-to-Protein-Creation-From-DNA-to-Function.aspx</a:t>
            </a:r>
            <a:endParaRPr lang="en-SG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453EDF-0CE7-3654-A084-3779392C1C61}"/>
              </a:ext>
            </a:extLst>
          </p:cNvPr>
          <p:cNvSpPr txBox="1"/>
          <p:nvPr/>
        </p:nvSpPr>
        <p:spPr>
          <a:xfrm>
            <a:off x="5330757" y="1585609"/>
            <a:ext cx="33852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DNA: A,C,G,T</a:t>
            </a:r>
          </a:p>
          <a:p>
            <a:endParaRPr lang="en-US" dirty="0"/>
          </a:p>
          <a:p>
            <a:r>
              <a:rPr lang="en-US" dirty="0"/>
              <a:t>mRNA: </a:t>
            </a:r>
            <a:r>
              <a:rPr lang="en-US"/>
              <a:t>A,C,G,U</a:t>
            </a:r>
            <a:endParaRPr lang="en-SG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528E216-0404-C8AC-744C-E2AC99FE00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4273" y="3354062"/>
            <a:ext cx="3611077" cy="230707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DF6341D-0A6A-E813-5F75-79E259BC3D4F}"/>
              </a:ext>
            </a:extLst>
          </p:cNvPr>
          <p:cNvSpPr txBox="1"/>
          <p:nvPr/>
        </p:nvSpPr>
        <p:spPr>
          <a:xfrm>
            <a:off x="844510" y="5938736"/>
            <a:ext cx="4669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20 types of amino acids build proteins</a:t>
            </a:r>
            <a:endParaRPr lang="en-SG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73B261-97C9-A943-69FD-AF4F639C9749}"/>
              </a:ext>
            </a:extLst>
          </p:cNvPr>
          <p:cNvSpPr/>
          <p:nvPr/>
        </p:nvSpPr>
        <p:spPr>
          <a:xfrm>
            <a:off x="442609" y="1585609"/>
            <a:ext cx="1357008" cy="4572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447597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F49B2-E903-2A5C-CBA9-794B81CC9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Protein folding 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00D147-B06C-DC47-14E4-8A1FAE3FF5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178" y="2004060"/>
            <a:ext cx="8210517" cy="25529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A226FCE-A8E7-B9BB-477F-027FC46AEA06}"/>
              </a:ext>
            </a:extLst>
          </p:cNvPr>
          <p:cNvSpPr txBox="1"/>
          <p:nvPr/>
        </p:nvSpPr>
        <p:spPr>
          <a:xfrm>
            <a:off x="564948" y="5602884"/>
            <a:ext cx="57950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dirty="0"/>
              <a:t>https://www.linkedin.com/pulse/why-protein-folding-big-deal-balasundararaman-sundar-</a:t>
            </a:r>
          </a:p>
        </p:txBody>
      </p:sp>
    </p:spTree>
    <p:extLst>
      <p:ext uri="{BB962C8B-B14F-4D97-AF65-F5344CB8AC3E}">
        <p14:creationId xmlns:p14="http://schemas.microsoft.com/office/powerpoint/2010/main" val="12173342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1DEEB-7172-4DC0-93EE-B8AE9F03E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Alphafold</a:t>
            </a:r>
            <a:r>
              <a:rPr lang="en-US" dirty="0"/>
              <a:t> architecture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675E46-B1B6-4943-8099-C98F613C5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73164"/>
            <a:ext cx="9144000" cy="31116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340C81-1E90-43FA-8FD5-4FC1FDD3E0F7}"/>
              </a:ext>
            </a:extLst>
          </p:cNvPr>
          <p:cNvSpPr txBox="1"/>
          <p:nvPr/>
        </p:nvSpPr>
        <p:spPr>
          <a:xfrm>
            <a:off x="2161900" y="2834640"/>
            <a:ext cx="13258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 err="1"/>
              <a:t>Mutiple</a:t>
            </a:r>
            <a:r>
              <a:rPr lang="en-US" sz="800" dirty="0"/>
              <a:t> sequence alignment</a:t>
            </a:r>
            <a:endParaRPr lang="en-SG" sz="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F6F8E9-2FF0-4928-BEC7-5945E2FD6487}"/>
              </a:ext>
            </a:extLst>
          </p:cNvPr>
          <p:cNvSpPr txBox="1"/>
          <p:nvPr/>
        </p:nvSpPr>
        <p:spPr>
          <a:xfrm>
            <a:off x="628650" y="5089388"/>
            <a:ext cx="285913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Key concepts: token, self-attention, transformer, gate, </a:t>
            </a:r>
            <a:r>
              <a:rPr lang="en-US" dirty="0" err="1"/>
              <a:t>layernorm</a:t>
            </a:r>
            <a:r>
              <a:rPr lang="en-US" dirty="0"/>
              <a:t>, representation learning, diffusion, …</a:t>
            </a:r>
            <a:endParaRPr lang="en-S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51572C-F039-418C-98A7-9249002E839B}"/>
              </a:ext>
            </a:extLst>
          </p:cNvPr>
          <p:cNvSpPr txBox="1"/>
          <p:nvPr/>
        </p:nvSpPr>
        <p:spPr>
          <a:xfrm>
            <a:off x="5042262" y="5414557"/>
            <a:ext cx="25276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Output is recycled to input (recurrent)</a:t>
            </a:r>
            <a:endParaRPr lang="en-SG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67F90D-AAFA-4091-B1BB-3E1F9874DBBB}"/>
              </a:ext>
            </a:extLst>
          </p:cNvPr>
          <p:cNvSpPr txBox="1"/>
          <p:nvPr/>
        </p:nvSpPr>
        <p:spPr>
          <a:xfrm>
            <a:off x="7426234" y="365126"/>
            <a:ext cx="136506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8</a:t>
            </a:r>
            <a:r>
              <a:rPr lang="en-US" dirty="0"/>
              <a:t> protein structures predicted</a:t>
            </a:r>
            <a:endParaRPr lang="en-S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1E4433-BB48-4F6D-9DC1-99D025F0D2CB}"/>
              </a:ext>
            </a:extLst>
          </p:cNvPr>
          <p:cNvSpPr txBox="1"/>
          <p:nvPr/>
        </p:nvSpPr>
        <p:spPr>
          <a:xfrm>
            <a:off x="84909" y="3350624"/>
            <a:ext cx="7641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amino acid sequence</a:t>
            </a:r>
            <a:endParaRPr lang="en-SG" sz="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1695E4-D3AA-4179-9862-FA25E9D87CC5}"/>
              </a:ext>
            </a:extLst>
          </p:cNvPr>
          <p:cNvSpPr txBox="1"/>
          <p:nvPr/>
        </p:nvSpPr>
        <p:spPr>
          <a:xfrm>
            <a:off x="4186643" y="6394270"/>
            <a:ext cx="46307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000" dirty="0">
                <a:hlinkClick r:id="rId3"/>
              </a:rPr>
              <a:t>https://elanapearl.github.io/blog/2024/the-illustrated-alphafold/</a:t>
            </a:r>
            <a:r>
              <a:rPr lang="en-SG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36027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1520</TotalTime>
  <Words>1138</Words>
  <Application>Microsoft Office PowerPoint</Application>
  <PresentationFormat>On-screen Show (4:3)</PresentationFormat>
  <Paragraphs>185</Paragraphs>
  <Slides>21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Arial</vt:lpstr>
      <vt:lpstr>Calibri</vt:lpstr>
      <vt:lpstr>Cambria Math</vt:lpstr>
      <vt:lpstr>Courier New</vt:lpstr>
      <vt:lpstr>Verdana</vt:lpstr>
      <vt:lpstr>Office Theme</vt:lpstr>
      <vt:lpstr>Week 9,   Encoder, decoder, transformer</vt:lpstr>
      <vt:lpstr>Outline</vt:lpstr>
      <vt:lpstr>Autoencoder</vt:lpstr>
      <vt:lpstr>General autoencoder</vt:lpstr>
      <vt:lpstr>Encoder as principal component analysis</vt:lpstr>
      <vt:lpstr>Special case W =ϕ (D×1)</vt:lpstr>
      <vt:lpstr>Transformer</vt:lpstr>
      <vt:lpstr>Attention</vt:lpstr>
      <vt:lpstr>Attention</vt:lpstr>
      <vt:lpstr>Learning</vt:lpstr>
      <vt:lpstr>Scaled dot-product self-attention </vt:lpstr>
      <vt:lpstr>Multi-head attention</vt:lpstr>
      <vt:lpstr>Add &amp; norm</vt:lpstr>
      <vt:lpstr>Position encoding </vt:lpstr>
      <vt:lpstr>Machine translation</vt:lpstr>
      <vt:lpstr>Pytorch transformer</vt:lpstr>
      <vt:lpstr>GPT (generative pretrained transformer)</vt:lpstr>
      <vt:lpstr>Alpha-Fold</vt:lpstr>
      <vt:lpstr>DNA, mRNA, and protein</vt:lpstr>
      <vt:lpstr>Protein folding </vt:lpstr>
      <vt:lpstr>Alphafold architecture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AIS5203 Foundations of Deep Learning</dc:title>
  <dc:creator>Wang Jian-Sheng</dc:creator>
  <cp:lastModifiedBy>Wang Jian-Sheng</cp:lastModifiedBy>
  <cp:revision>104</cp:revision>
  <dcterms:created xsi:type="dcterms:W3CDTF">2021-10-08T06:30:06Z</dcterms:created>
  <dcterms:modified xsi:type="dcterms:W3CDTF">2026-09-28T03:53:45Z</dcterms:modified>
</cp:coreProperties>
</file>